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44810242934b11" /><Relationship Type="http://schemas.openxmlformats.org/officeDocument/2006/relationships/extended-properties" Target="/docProps/app.xml" Id="Rdbdd478707e2414a" /><Relationship Type="http://schemas.openxmlformats.org/officeDocument/2006/relationships/officeDocument" Target="/ppt/presentation.xml" Id="Raec1e93a785e44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8120cf67564829"/>
  </p:sldMasterIdLst>
  <p:notesMasterIdLst>
    <p:notesMasterId xmlns:r="http://schemas.openxmlformats.org/officeDocument/2006/relationships" r:id="R56f01159bd54442c"/>
  </p:notesMasterIdLst>
  <p:sldIdLst>
    <p:sldId xmlns:r="http://schemas.openxmlformats.org/officeDocument/2006/relationships" id="256" r:id="R9405ff3b6cc545ee"/>
    <p:sldId xmlns:r="http://schemas.openxmlformats.org/officeDocument/2006/relationships" id="257" r:id="R73a90681387645fe"/>
    <p:sldId xmlns:r="http://schemas.openxmlformats.org/officeDocument/2006/relationships" id="258" r:id="R50ccb533759e4ae7"/>
    <p:sldId xmlns:r="http://schemas.openxmlformats.org/officeDocument/2006/relationships" id="259" r:id="R768974becf62431b"/>
    <p:sldId xmlns:r="http://schemas.openxmlformats.org/officeDocument/2006/relationships" id="260" r:id="Rf0635c85651e4046"/>
    <p:sldId xmlns:r="http://schemas.openxmlformats.org/officeDocument/2006/relationships" id="261" r:id="R44a1bead55ce4944"/>
    <p:sldId xmlns:r="http://schemas.openxmlformats.org/officeDocument/2006/relationships" id="262" r:id="R1a72a7ac5ea046f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6e3bffbbf1e41dd" /><Relationship Type="http://schemas.openxmlformats.org/officeDocument/2006/relationships/slideMaster" Target="/ppt/slideMasters/slideMaster1.xml" Id="R038120cf67564829" /><Relationship Type="http://schemas.openxmlformats.org/officeDocument/2006/relationships/notesMaster" Target="/ppt/notesMasters/notesMaster1.xml" Id="R56f01159bd54442c" /><Relationship Type="http://schemas.openxmlformats.org/officeDocument/2006/relationships/presProps" Target="/ppt/presProps.xml" Id="Rb6115432e8354770" /><Relationship Type="http://schemas.openxmlformats.org/officeDocument/2006/relationships/tableStyles" Target="/ppt/tableStyles.xml" Id="Rbb19583bed764640" /><Relationship Type="http://schemas.openxmlformats.org/officeDocument/2006/relationships/slide" Target="/ppt/slides/slide1.xml" Id="R9405ff3b6cc545ee" /><Relationship Type="http://schemas.openxmlformats.org/officeDocument/2006/relationships/slide" Target="/ppt/slides/slide2.xml" Id="R73a90681387645fe" /><Relationship Type="http://schemas.openxmlformats.org/officeDocument/2006/relationships/slide" Target="/ppt/slides/slide3.xml" Id="R50ccb533759e4ae7" /><Relationship Type="http://schemas.openxmlformats.org/officeDocument/2006/relationships/slide" Target="/ppt/slides/slide4.xml" Id="R768974becf62431b" /><Relationship Type="http://schemas.openxmlformats.org/officeDocument/2006/relationships/slide" Target="/ppt/slides/slide5.xml" Id="Rf0635c85651e4046" /><Relationship Type="http://schemas.openxmlformats.org/officeDocument/2006/relationships/slide" Target="/ppt/slides/slide6.xml" Id="R44a1bead55ce4944" /><Relationship Type="http://schemas.openxmlformats.org/officeDocument/2006/relationships/slide" Target="/ppt/slides/slide7.xml" Id="R1a72a7ac5ea046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2e761a9f1584a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02ccfa476e4642" /><Relationship Type="http://schemas.openxmlformats.org/officeDocument/2006/relationships/notesMaster" Target="/ppt/notesMasters/notesMaster1.xml" Id="R484f6dcf898346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a9bfe42e2d4251" /><Relationship Type="http://schemas.openxmlformats.org/officeDocument/2006/relationships/notesMaster" Target="/ppt/notesMasters/notesMaster1.xml" Id="R2c852078f816439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609ee791b540ba" /><Relationship Type="http://schemas.openxmlformats.org/officeDocument/2006/relationships/notesMaster" Target="/ppt/notesMasters/notesMaster1.xml" Id="Ra2d21614d07f44b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94779fb33b6458f" /><Relationship Type="http://schemas.openxmlformats.org/officeDocument/2006/relationships/notesMaster" Target="/ppt/notesMasters/notesMaster1.xml" Id="R5521a434bf23447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e0ff5900194ac5" /><Relationship Type="http://schemas.openxmlformats.org/officeDocument/2006/relationships/notesMaster" Target="/ppt/notesMasters/notesMaster1.xml" Id="R04d1048a988f4b8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4864ec969a04e78" /><Relationship Type="http://schemas.openxmlformats.org/officeDocument/2006/relationships/notesMaster" Target="/ppt/notesMasters/notesMaster1.xml" Id="R91b535e8e5bf4ec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0c9d9e70a304b20" /><Relationship Type="http://schemas.openxmlformats.org/officeDocument/2006/relationships/notesMaster" Target="/ppt/notesMasters/notesMaster1.xml" Id="Re59c207895f14a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VISION.md; .agents/skills/property-search-orchestrator/SKILL.md; .agents/skills/property-email-workflows/SKILL.md.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VISION.md (OpenClaw runs tasks in channels with rules; plugin-agnostic core); .agents/skills/property-search-orchestrator/SKILL.md (canonical sessionId); .agents/skills/property-email-workflows/SKILL.md (draft and approval boundary).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.agents/skills/property-search-orchestrator/SKILL.md; src/tools/orchestrate.ts; src/agents/tools/property-search-tool.ts.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src/tools/orchestrate.ts (search, market, recommend, knowledge, mixed); .agents/skills/property-search-orchestrator/SKILL.md (agent map and session memory).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.agents/skills/property-email-workflows/SKILL.md; src/tools/email.ts; src/agents/tools/email-workflow-tools.ts.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.agents/skills/property-search-orchestrator/SKILL.md; .agents/skills/property-email-workflows/SKILL.md; src/tools/session_memory.ts; src/tools/email.ts.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VISION.md; .agents/skills/property-search-orchestrator/SKILL.md; .agents/skills/property-email-workflows/SKILL.md.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ea86d83cd84a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ad2860f0634d25" /><Relationship Type="http://schemas.openxmlformats.org/officeDocument/2006/relationships/slideLayout" Target="/ppt/slideLayouts/slideLayout1.xml" Id="Rb2339d880b1b486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339d880b1b486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71ad2959ce4452" /><Relationship Type="http://schemas.openxmlformats.org/officeDocument/2006/relationships/notesSlide" Target="/ppt/notesSlides/notesSlide1.xml" Id="R7eea82915caa4c0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9ebf9efb7d4651" /><Relationship Type="http://schemas.openxmlformats.org/officeDocument/2006/relationships/notesSlide" Target="/ppt/notesSlides/notesSlide2.xml" Id="R66b71a233bd94cc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358e08fbed495b" /><Relationship Type="http://schemas.openxmlformats.org/officeDocument/2006/relationships/notesSlide" Target="/ppt/notesSlides/notesSlide3.xml" Id="R339497d6c7054e3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bfdf97c36f467b" /><Relationship Type="http://schemas.openxmlformats.org/officeDocument/2006/relationships/notesSlide" Target="/ppt/notesSlides/notesSlide4.xml" Id="R2c5ca4249b9546a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72256b3da5421a" /><Relationship Type="http://schemas.openxmlformats.org/officeDocument/2006/relationships/notesSlide" Target="/ppt/notesSlides/notesSlide5.xml" Id="Rb9f8635c24dc42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de2aa3aca64623" /><Relationship Type="http://schemas.openxmlformats.org/officeDocument/2006/relationships/notesSlide" Target="/ppt/notesSlides/notesSlide6.xml" Id="R07dc8b7308264f2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a92ef5270b4cf7" /><Relationship Type="http://schemas.openxmlformats.org/officeDocument/2006/relationships/notesSlide" Target="/ppt/notesSlides/notesSlide7.xml" Id="R9dfe0176751a4f6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6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D7CF43-4C2C-4BA5-BE71-829C076D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-1143000"/>
            <a:ext cx="5143500" cy="514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5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1C1849-4286-4B50-879B-C065F4D06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10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9AB06C-D550-4DB3-A212-46BE1366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DE7E3"/>
                </a:solidFill>
                <a:latin typeface="Helvetica"/>
                <a:ea typeface="Helvetica"/>
                <a:cs typeface="Helvetica"/>
              </a:defRPr>
            </a:pPr>
            <a:r>
              <a:rPr sz="1125" b="1" i="0">
                <a:solidFill>
                  <a:srgbClr val="FDE7E3"/>
                </a:solidFill>
                <a:latin typeface="Helvetica"/>
                <a:ea typeface="Helvetica"/>
                <a:cs typeface="Helvetica"/>
              </a:rPr>
              <a:t>OPENCLAW / PRODUCT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7928B3-269A-417C-ADC2-2B0EEBC1A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66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4050" b="1" i="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Housing search +</a:t>
            </a:r>
          </a:p>
          <a:p xmlns:a="http://schemas.openxmlformats.org/drawingml/2006/main">
            <a:pPr>
              <a:defRPr sz="4050" b="1" i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4050" b="1" i="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email workflows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2340C9-E1BD-45FA-96D7-5E01FD926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619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D8E2EF"/>
                </a:solidFill>
                <a:latin typeface="Helvetica"/>
                <a:ea typeface="Helvetica"/>
                <a:cs typeface="Helvetica"/>
              </a:defRPr>
            </a:pPr>
            <a:r>
              <a:rPr sz="1725" b="0" i="0">
                <a:solidFill>
                  <a:srgbClr val="D8E2EF"/>
                </a:solidFill>
                <a:latin typeface="Helvetica"/>
                <a:ea typeface="Helvetica"/>
                <a:cs typeface="Helvetica"/>
              </a:rPr>
              <a:t>How OpenClaw turns a natural-language request into a stateful property workflow, then holds the line at the email approval boundary.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E2EBF7-2C1E-49D7-94CB-36C91B01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76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AAB9CB"/>
                </a:solidFill>
                <a:latin typeface="Helvetica"/>
                <a:ea typeface="Helvetica"/>
                <a:cs typeface="Helvetica"/>
              </a:defRPr>
            </a:pPr>
            <a:r>
              <a:rPr sz="1125" b="0" i="0">
                <a:solidFill>
                  <a:srgbClr val="AAB9CB"/>
                </a:solidFill>
                <a:latin typeface="Helvetica"/>
                <a:ea typeface="Helvetica"/>
                <a:cs typeface="Helvetica"/>
              </a:rPr>
              <a:t>Repository summary  • 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6935222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BE0744-1D40-44F0-906E-9602E71C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26B5B"/>
                </a:solidFill>
                <a:latin typeface="Helvetica"/>
                <a:ea typeface="Helvetica"/>
                <a:cs typeface="Helvetica"/>
              </a:defRPr>
            </a:pPr>
            <a:r>
              <a:rPr sz="1050" b="1" i="0">
                <a:solidFill>
                  <a:srgbClr val="F26B5B"/>
                </a:solidFill>
                <a:latin typeface="Helvetica"/>
                <a:ea typeface="Helvetica"/>
                <a:cs typeface="Helvetica"/>
              </a:rPr>
              <a:t>THE OPENCLAW ROLE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F36925-3F73-4745-860B-8809974E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2550" b="1" i="0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OpenClaw is the execution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0D8EA6-330B-42A5-89B2-CF37EADE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The user speaks once. OpenClaw routes the request, carries session state, and keeps side effects explicit.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70EB37-8A17-4CCC-94D0-3AA26A62E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9527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4263D"/>
          </a:solidFill>
          <a:ln xmlns:a="http://schemas.openxmlformats.org/drawingml/2006/main" w="9525">
            <a:solidFill>
              <a:srgbClr val="1426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A2AA5E-D3AF-4BCE-9D4A-97B0990DF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OPENCLAW GATEWAY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CD611D-6654-4B24-8E67-2CF7B0687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28900"/>
            <a:ext cx="26098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D8E2EF"/>
                </a:solidFill>
                <a:latin typeface="Helvetica"/>
                <a:ea typeface="Helvetica"/>
                <a:cs typeface="Helvetica"/>
              </a:defRPr>
            </a:pPr>
            <a:r>
              <a:rPr sz="1500" b="0" i="0">
                <a:solidFill>
                  <a:srgbClr val="D8E2EF"/>
                </a:solidFill>
                <a:latin typeface="Helvetica"/>
                <a:ea typeface="Helvetica"/>
                <a:cs typeface="Helvetica"/>
              </a:rPr>
              <a:t>One sessionId</a:t>
            </a:r>
          </a:p>
          <a:p xmlns:a="http://schemas.openxmlformats.org/drawingml/2006/main">
            <a:pPr>
              <a:defRPr sz="1500" b="0" i="0">
                <a:solidFill>
                  <a:srgbClr val="D8E2EF"/>
                </a:solidFill>
                <a:latin typeface="Helvetica"/>
                <a:ea typeface="Helvetica"/>
                <a:cs typeface="Helvetica"/>
              </a:defRPr>
            </a:pPr>
            <a:r>
              <a:rPr sz="1500" b="0" i="0">
                <a:solidFill>
                  <a:srgbClr val="D8E2EF"/>
                </a:solidFill>
                <a:latin typeface="Helvetica"/>
                <a:ea typeface="Helvetica"/>
                <a:cs typeface="Helvetica"/>
              </a:rPr>
              <a:t>One conversation context</a:t>
            </a:r>
          </a:p>
          <a:p xmlns:a="http://schemas.openxmlformats.org/drawingml/2006/main">
            <a:pPr>
              <a:defRPr sz="1500" b="0" i="0">
                <a:solidFill>
                  <a:srgbClr val="D8E2EF"/>
                </a:solidFill>
                <a:latin typeface="Helvetica"/>
                <a:ea typeface="Helvetica"/>
                <a:cs typeface="Helvetica"/>
              </a:defRPr>
            </a:pPr>
            <a:r>
              <a:rPr sz="1500" b="0" i="0">
                <a:solidFill>
                  <a:srgbClr val="D8E2EF"/>
                </a:solidFill>
                <a:latin typeface="Helvetica"/>
                <a:ea typeface="Helvetica"/>
                <a:cs typeface="Helvetica"/>
              </a:rPr>
              <a:t>Channel-agnostic execution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B457A7-278E-4515-899A-082D0E03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28575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6EEFB"/>
          </a:solidFill>
          <a:ln xmlns:a="http://schemas.openxmlformats.org/drawingml/2006/main" w="9525">
            <a:solidFill>
              <a:srgbClr val="4E7A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9AE32A-5E9B-469D-9BAE-3E6CB140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2885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4E7AC7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4E7AC7"/>
                </a:solidFill>
                <a:latin typeface="Helvetica"/>
                <a:ea typeface="Helvetica"/>
                <a:cs typeface="Helvetica"/>
              </a:rPr>
              <a:t>PROPERTY WORKFLOW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1FB4F0-9EE7-4DFE-83BE-E774379E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33650"/>
            <a:ext cx="25146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275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Intent routing</a:t>
            </a:r>
          </a:p>
          <a:p xmlns:a="http://schemas.openxmlformats.org/drawingml/2006/main">
            <a:pPr>
              <a:defRPr sz="1275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275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Criteria collection</a:t>
            </a:r>
          </a:p>
          <a:p xmlns:a="http://schemas.openxmlformats.org/drawingml/2006/main">
            <a:pPr>
              <a:defRPr sz="1275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275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Listings + market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E8B499-1067-4D95-BAA3-D932CEA5D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05250"/>
            <a:ext cx="28575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DE7E3"/>
          </a:solidFill>
          <a:ln xmlns:a="http://schemas.openxmlformats.org/drawingml/2006/main" w="9525">
            <a:solidFill>
              <a:srgbClr val="F26B5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464F09-4A5A-4AEE-99E3-E929A866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386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F26B5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26B5B"/>
                </a:solidFill>
                <a:latin typeface="Helvetica"/>
                <a:ea typeface="Helvetica"/>
                <a:cs typeface="Helvetica"/>
              </a:rPr>
              <a:t>EMAIL WORKFLOW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786146-912D-4093-9EF4-BD814F00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343400"/>
            <a:ext cx="25146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275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Reviewable draft</a:t>
            </a:r>
          </a:p>
          <a:p xmlns:a="http://schemas.openxmlformats.org/drawingml/2006/main">
            <a:pPr>
              <a:defRPr sz="1275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275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Exact approval phrase</a:t>
            </a:r>
          </a:p>
          <a:p xmlns:a="http://schemas.openxmlformats.org/drawingml/2006/main">
            <a:pPr>
              <a:defRPr sz="1275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275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Single delivery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72812C-C4D0-4F60-85F3-5CB1DE401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81300"/>
            <a:ext cx="28575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DDF3F0"/>
          </a:solidFill>
          <a:ln xmlns:a="http://schemas.openxmlformats.org/drawingml/2006/main" w="9525">
            <a:solidFill>
              <a:srgbClr val="2A9D8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62630C-3A7F-4589-92DA-8BCEBDAA7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91465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2A9D8F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2A9D8F"/>
                </a:solidFill>
                <a:latin typeface="Helvetica"/>
                <a:ea typeface="Helvetica"/>
                <a:cs typeface="Helvetica"/>
              </a:rPr>
              <a:t>USER OUTCOME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9CF633-9054-4275-B8B7-BD20F65A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219450"/>
            <a:ext cx="25146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50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A useful answer</a:t>
            </a:r>
          </a:p>
          <a:p xmlns:a="http://schemas.openxmlformats.org/drawingml/2006/main">
            <a:pPr>
              <a:defRPr sz="150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50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with a visible action boundary</a:t>
            </a:r>
          </a:p>
        </p:txBody>
      </p:sp>
      <p:cxnSp>
        <p:nvCxnSpPr>
          <p:cNvPr id="39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638550" y="2809875"/>
            <a:ext cx="83820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E7AC7"/>
            </a:solidFill>
            <a:prstDash val="solid"/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4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638550" y="3000375"/>
            <a:ext cx="838200" cy="1619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26B5B"/>
            </a:solidFill>
            <a:prstDash val="soli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7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334250" y="2809875"/>
            <a:ext cx="904875" cy="685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A9D8F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7334250" y="3495675"/>
            <a:ext cx="904875" cy="1123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A9D8F"/>
            </a:solidFill>
            <a:prstDash val="soli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974C40-4344-48D1-A4D3-09934F34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6578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350" b="1" i="0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Session memory is the shared spine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00C9ED-D265-49EA-8930-81D0B218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381395-6DAF-4404-A107-F17511F9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825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OpenClaw  /  housing workflows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882BAA-0BAA-4168-B6F4-A97F7A216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825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685634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FB689D-E466-4252-8AC4-D7F677B2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26B5B"/>
                </a:solidFill>
                <a:latin typeface="Helvetica"/>
                <a:ea typeface="Helvetica"/>
                <a:cs typeface="Helvetica"/>
              </a:defRPr>
            </a:pPr>
            <a:r>
              <a:rPr sz="1050" b="1" i="0">
                <a:solidFill>
                  <a:srgbClr val="F26B5B"/>
                </a:solidFill>
                <a:latin typeface="Helvetica"/>
                <a:ea typeface="Helvetica"/>
                <a:cs typeface="Helvetica"/>
              </a:rPr>
              <a:t>HOUSING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F09860-D2C0-43A0-BAFC-87B92CAA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2550" b="1" i="0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A property request becomes structured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6D7395-6B56-454E-A5F0-1C79444A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The orchestrator owns the handoff between requirements, listings, market context, recommendations, and knowledge.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C9AB81-CF2F-4918-8A43-5F668D53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790700" cy="1952625"/>
          </a:xfrm>
          <a:prstGeom xmlns:a="http://schemas.openxmlformats.org/drawingml/2006/main" prst="roundRect">
            <a:avLst>
              <a:gd name="adj" fmla="val 9574"/>
            </a:avLst>
          </a:prstGeom>
          <a:solidFill xmlns:a="http://schemas.openxmlformats.org/drawingml/2006/main">
            <a:srgbClr val="14263D"/>
          </a:solidFill>
          <a:ln xmlns:a="http://schemas.openxmlformats.org/drawingml/2006/main" w="9525">
            <a:solidFill>
              <a:srgbClr val="1426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5F96B7-A68A-4545-87DA-F440CC1B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71725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01  CLASSIFY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13BF75-0DBB-497D-A6FD-498726DF7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76525"/>
            <a:ext cx="144780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D8E2EF"/>
                </a:solidFill>
                <a:latin typeface="Helvetica"/>
                <a:ea typeface="Helvetica"/>
                <a:cs typeface="Helvetica"/>
              </a:defRPr>
            </a:pPr>
            <a:r>
              <a:rPr sz="1425" b="0" i="0">
                <a:solidFill>
                  <a:srgbClr val="D8E2EF"/>
                </a:solidFill>
                <a:latin typeface="Helvetica"/>
                <a:ea typeface="Helvetica"/>
                <a:cs typeface="Helvetica"/>
              </a:rPr>
              <a:t>search</a:t>
            </a:r>
          </a:p>
          <a:p xmlns:a="http://schemas.openxmlformats.org/drawingml/2006/main">
            <a:pPr>
              <a:defRPr sz="1425" b="0" i="0">
                <a:solidFill>
                  <a:srgbClr val="D8E2EF"/>
                </a:solidFill>
                <a:latin typeface="Helvetica"/>
                <a:ea typeface="Helvetica"/>
                <a:cs typeface="Helvetica"/>
              </a:defRPr>
            </a:pPr>
            <a:r>
              <a:rPr sz="1425" b="0" i="0">
                <a:solidFill>
                  <a:srgbClr val="D8E2EF"/>
                </a:solidFill>
                <a:latin typeface="Helvetica"/>
                <a:ea typeface="Helvetica"/>
                <a:cs typeface="Helvetica"/>
              </a:rPr>
              <a:t>market</a:t>
            </a:r>
          </a:p>
          <a:p xmlns:a="http://schemas.openxmlformats.org/drawingml/2006/main">
            <a:pPr>
              <a:defRPr sz="1425" b="0" i="0">
                <a:solidFill>
                  <a:srgbClr val="D8E2EF"/>
                </a:solidFill>
                <a:latin typeface="Helvetica"/>
                <a:ea typeface="Helvetica"/>
                <a:cs typeface="Helvetica"/>
              </a:defRPr>
            </a:pPr>
            <a:r>
              <a:rPr sz="1425" b="0" i="0">
                <a:solidFill>
                  <a:srgbClr val="D8E2EF"/>
                </a:solidFill>
                <a:latin typeface="Helvetica"/>
                <a:ea typeface="Helvetica"/>
                <a:cs typeface="Helvetica"/>
              </a:rPr>
              <a:t>recommend</a:t>
            </a:r>
          </a:p>
          <a:p xmlns:a="http://schemas.openxmlformats.org/drawingml/2006/main">
            <a:pPr>
              <a:defRPr sz="1425" b="0" i="0">
                <a:solidFill>
                  <a:srgbClr val="D8E2EF"/>
                </a:solidFill>
                <a:latin typeface="Helvetica"/>
                <a:ea typeface="Helvetica"/>
                <a:cs typeface="Helvetica"/>
              </a:defRPr>
            </a:pPr>
            <a:r>
              <a:rPr sz="1425" b="0" i="0">
                <a:solidFill>
                  <a:srgbClr val="D8E2EF"/>
                </a:solidFill>
                <a:latin typeface="Helvetica"/>
                <a:ea typeface="Helvetica"/>
                <a:cs typeface="Helvetica"/>
              </a:rPr>
              <a:t>mixed</a:t>
            </a:r>
          </a:p>
          <a:p xmlns:a="http://schemas.openxmlformats.org/drawingml/2006/main">
            <a:pPr>
              <a:defRPr sz="1425" b="0" i="0">
                <a:solidFill>
                  <a:srgbClr val="D8E2EF"/>
                </a:solidFill>
                <a:latin typeface="Helvetica"/>
                <a:ea typeface="Helvetica"/>
                <a:cs typeface="Helvetica"/>
              </a:defRPr>
            </a:pPr>
            <a:r>
              <a:rPr sz="1425" b="0" i="0">
                <a:solidFill>
                  <a:srgbClr val="D8E2EF"/>
                </a:solidFill>
                <a:latin typeface="Helvetica"/>
                <a:ea typeface="Helvetica"/>
                <a:cs typeface="Helvetica"/>
              </a:rPr>
              <a:t>knowledge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F5D0C1-DB27-4EA1-A08F-D69DE09EA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38375"/>
            <a:ext cx="2190750" cy="1952625"/>
          </a:xfrm>
          <a:prstGeom xmlns:a="http://schemas.openxmlformats.org/drawingml/2006/main" prst="roundRect">
            <a:avLst>
              <a:gd name="adj" fmla="val 8780"/>
            </a:avLst>
          </a:prstGeom>
          <a:solidFill xmlns:a="http://schemas.openxmlformats.org/drawingml/2006/main">
            <a:srgbClr val="E6EEFB"/>
          </a:solidFill>
          <a:ln xmlns:a="http://schemas.openxmlformats.org/drawingml/2006/main" w="9525">
            <a:solidFill>
              <a:srgbClr val="4E7A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E92558-0339-42EF-B285-F041B33D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371725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4E7AC7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4E7AC7"/>
                </a:solidFill>
                <a:latin typeface="Helvetica"/>
                <a:ea typeface="Helvetica"/>
                <a:cs typeface="Helvetica"/>
              </a:rPr>
              <a:t>02  REMEMBER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D3ADCE-6D51-424D-A64B-08146B15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676525"/>
            <a:ext cx="184785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Merge criteria into the</a:t>
            </a:r>
          </a:p>
          <a:p xmlns:a="http://schemas.openxmlformats.org/drawingml/2006/main">
            <a:pPr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current sessionId. Ask only</a:t>
            </a:r>
          </a:p>
          <a:p xmlns:a="http://schemas.openxmlformats.org/drawingml/2006/main">
            <a:pPr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for missing search fields.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0447A8-9483-490C-9D95-4D744D5A7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238375"/>
            <a:ext cx="2190750" cy="1952625"/>
          </a:xfrm>
          <a:prstGeom xmlns:a="http://schemas.openxmlformats.org/drawingml/2006/main" prst="roundRect">
            <a:avLst>
              <a:gd name="adj" fmla="val 8780"/>
            </a:avLst>
          </a:prstGeom>
          <a:solidFill xmlns:a="http://schemas.openxmlformats.org/drawingml/2006/main">
            <a:srgbClr val="DDF3F0"/>
          </a:solidFill>
          <a:ln xmlns:a="http://schemas.openxmlformats.org/drawingml/2006/main" w="9525">
            <a:solidFill>
              <a:srgbClr val="2A9D8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71599D-F331-4037-9F24-30C6B82E3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371725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2A9D8F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2A9D8F"/>
                </a:solidFill>
                <a:latin typeface="Helvetica"/>
                <a:ea typeface="Helvetica"/>
                <a:cs typeface="Helvetica"/>
              </a:rPr>
              <a:t>03  RETRIEVE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DD25E6-AD60-47AD-9BB1-062113D6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676525"/>
            <a:ext cx="184785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Listings from rets_property</a:t>
            </a:r>
          </a:p>
          <a:p xmlns:a="http://schemas.openxmlformats.org/drawingml/2006/main">
            <a:pPr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Market stats from</a:t>
            </a:r>
          </a:p>
          <a:p xmlns:a="http://schemas.openxmlformats.org/drawingml/2006/main">
            <a:pPr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california_sold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A867A0-B213-4EA4-8533-1F4C95B4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38375"/>
            <a:ext cx="2990850" cy="1952625"/>
          </a:xfrm>
          <a:prstGeom xmlns:a="http://schemas.openxmlformats.org/drawingml/2006/main" prst="roundRect">
            <a:avLst>
              <a:gd name="adj" fmla="val 8780"/>
            </a:avLst>
          </a:prstGeom>
          <a:solidFill xmlns:a="http://schemas.openxmlformats.org/drawingml/2006/main">
            <a:srgbClr val="FDE7E3"/>
          </a:solidFill>
          <a:ln xmlns:a="http://schemas.openxmlformats.org/drawingml/2006/main" w="9525">
            <a:solidFill>
              <a:srgbClr val="F26B5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D2503B-FA31-48BB-A2B9-04CFC61D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71725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F26B5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26B5B"/>
                </a:solidFill>
                <a:latin typeface="Helvetica"/>
                <a:ea typeface="Helvetica"/>
                <a:cs typeface="Helvetica"/>
              </a:rPr>
              <a:t>04  RESPOND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275DD2-AA56-4ECA-A043-86AB9AF1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76525"/>
            <a:ext cx="264795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Save listing previews and</a:t>
            </a:r>
          </a:p>
          <a:p xmlns:a="http://schemas.openxmlformats.org/drawingml/2006/main">
            <a:pPr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market summaries. Format the</a:t>
            </a:r>
          </a:p>
          <a:p xmlns:a="http://schemas.openxmlformats.org/drawingml/2006/main">
            <a:pPr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answer for the channel.</a:t>
            </a:r>
          </a:p>
        </p:txBody>
      </p:sp>
      <p:cxnSp>
        <p:nvCxnSpPr>
          <p:cNvPr id="40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476500" y="3214688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085"/>
            </a:solidFill>
            <a:prstDash val="soli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219700" y="3214688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085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962900" y="3214688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085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B24904-4BB2-4409-8937-C70C6178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820400" cy="809625"/>
          </a:xfrm>
          <a:prstGeom xmlns:a="http://schemas.openxmlformats.org/drawingml/2006/main" prst="roundRect">
            <a:avLst>
              <a:gd name="adj" fmla="val 18824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FFC2C4-4096-4CFE-8AF9-C15C8AFD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625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F26B5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26B5B"/>
                </a:solidFill>
                <a:latin typeface="Helvetica"/>
                <a:ea typeface="Helvetica"/>
                <a:cs typeface="Helvetica"/>
              </a:rPr>
              <a:t>Contract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E5D7E3-6B11-4BFF-AA7E-A3C9B228C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905375"/>
            <a:ext cx="8715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500" b="0" i="0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The live Gateway calls property_search with the unchanged user message and the canonical sessionId. The isolated CLI is reserved for smoke tests.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30EBAB-B282-4D17-9494-8178601B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3393C0-8112-4190-86BE-9B8D457C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825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OpenClaw  /  housing workflows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13C074-E116-4115-8A9B-73376C3C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825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249646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3FB0CC-9C04-446C-8B0B-8D9FECCE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26B5B"/>
                </a:solidFill>
                <a:latin typeface="Helvetica"/>
                <a:ea typeface="Helvetica"/>
                <a:cs typeface="Helvetica"/>
              </a:defRPr>
            </a:pPr>
            <a:r>
              <a:rPr sz="1050" b="1" i="0">
                <a:solidFill>
                  <a:srgbClr val="F26B5B"/>
                </a:solidFill>
                <a:latin typeface="Helvetica"/>
                <a:ea typeface="Helvetica"/>
                <a:cs typeface="Helvetica"/>
              </a:rPr>
              <a:t>INTENT ROUTING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85A12F-FEF2-4F79-89F3-4EAF3638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2550" b="1" i="0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The same conversation can move across housing intents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DE9DDC-552A-4266-A7FD-08E90534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Routing stays deterministic at the boundary, while session memory preserves continuity between turns.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0C47F0-9500-4B19-8527-2AB770FF9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667000" cy="1162050"/>
          </a:xfrm>
          <a:prstGeom xmlns:a="http://schemas.openxmlformats.org/drawingml/2006/main" prst="roundRect">
            <a:avLst>
              <a:gd name="adj" fmla="val 14754"/>
            </a:avLst>
          </a:prstGeom>
          <a:solidFill xmlns:a="http://schemas.openxmlformats.org/drawingml/2006/main">
            <a:srgbClr val="14263D"/>
          </a:solidFill>
          <a:ln xmlns:a="http://schemas.openxmlformats.org/drawingml/2006/main" w="9525">
            <a:solidFill>
              <a:srgbClr val="1426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53AFA7-357F-48A7-9FFF-70C4E9A64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1940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USER MESSAGE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C79256-22BF-41D5-9306-6C8848E6D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24200"/>
            <a:ext cx="2324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D8E2EF"/>
                </a:solidFill>
                <a:latin typeface="Helvetica"/>
                <a:ea typeface="Helvetica"/>
                <a:cs typeface="Helvetica"/>
              </a:defRPr>
            </a:pPr>
            <a:r>
              <a:rPr sz="1500" b="0" i="0">
                <a:solidFill>
                  <a:srgbClr val="D8E2EF"/>
                </a:solidFill>
                <a:latin typeface="Helvetica"/>
                <a:ea typeface="Helvetica"/>
                <a:cs typeface="Helvetica"/>
              </a:rPr>
              <a:t>“Find a 3-bed in Oakland</a:t>
            </a:r>
          </a:p>
          <a:p xmlns:a="http://schemas.openxmlformats.org/drawingml/2006/main">
            <a:pPr>
              <a:defRPr sz="1500" b="0" i="0">
                <a:solidFill>
                  <a:srgbClr val="D8E2EF"/>
                </a:solidFill>
                <a:latin typeface="Helvetica"/>
                <a:ea typeface="Helvetica"/>
                <a:cs typeface="Helvetica"/>
              </a:defRPr>
            </a:pPr>
            <a:r>
              <a:rPr sz="1500" b="0" i="0">
                <a:solidFill>
                  <a:srgbClr val="D8E2EF"/>
                </a:solidFill>
                <a:latin typeface="Helvetica"/>
                <a:ea typeface="Helvetica"/>
                <a:cs typeface="Helvetica"/>
              </a:rPr>
              <a:t>and tell me the market trend”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229BAC-5E5C-4875-8B34-F92950DF9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38450"/>
            <a:ext cx="1809750" cy="857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0C8"/>
          </a:solidFill>
          <a:ln xmlns:a="http://schemas.openxmlformats.org/drawingml/2006/main" w="9525">
            <a:solidFill>
              <a:srgbClr val="E3A72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7E5D25-1220-4A05-840E-F1001843F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718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E3A72F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E3A72F"/>
                </a:solidFill>
                <a:latin typeface="Helvetica"/>
                <a:ea typeface="Helvetica"/>
                <a:cs typeface="Helvetica"/>
              </a:rPr>
              <a:t>CLASSIFY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FB1377-D767-4D47-8201-D01FF5D5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766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210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mixed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C59512-F85E-4C9C-A131-AFED06F8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952625"/>
            <a:ext cx="31432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E6EEFB"/>
          </a:solidFill>
          <a:ln xmlns:a="http://schemas.openxmlformats.org/drawingml/2006/main" w="9525">
            <a:solidFill>
              <a:srgbClr val="4E7A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94A022-65F0-4543-9954-A18931D4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085975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4E7AC7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4E7AC7"/>
                </a:solidFill>
                <a:latin typeface="Helvetica"/>
                <a:ea typeface="Helvetica"/>
                <a:cs typeface="Helvetica"/>
              </a:rPr>
              <a:t>LISTINGS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7940DB-1082-4205-9DD7-57AF9A31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390775"/>
            <a:ext cx="2800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Requirements → listing agent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11CA20-A446-419D-A4B3-6A4A372A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381375"/>
            <a:ext cx="31432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DDF3F0"/>
          </a:solidFill>
          <a:ln xmlns:a="http://schemas.openxmlformats.org/drawingml/2006/main" w="9525">
            <a:solidFill>
              <a:srgbClr val="2A9D8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9CA68C-2A5A-4C5D-BE14-639104D3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514725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2A9D8F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2A9D8F"/>
                </a:solidFill>
                <a:latin typeface="Helvetica"/>
                <a:ea typeface="Helvetica"/>
                <a:cs typeface="Helvetica"/>
              </a:rPr>
              <a:t>MARKET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B4ED35-9AEA-47D4-A0C7-90AF6833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819525"/>
            <a:ext cx="2800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City → market stats agent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59E656-38D8-48C7-9C8E-B47D0F936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62500"/>
            <a:ext cx="495300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9CBDEB-9130-4FCD-94E2-0A22E1A2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895850"/>
            <a:ext cx="461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SESSION MEMORY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77488E-B1ED-434D-99A9-DAE2CB87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200650"/>
            <a:ext cx="461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criteria + listingPreviews + market summaries</a:t>
            </a:r>
          </a:p>
        </p:txBody>
      </p:sp>
      <p:cxnSp>
        <p:nvCxnSpPr>
          <p:cNvPr id="45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352800" y="3267075"/>
            <a:ext cx="1009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085"/>
            </a:solidFill>
            <a:prstDash val="solid"/>
            <a:tailEnd type="triangle" w="sm" len="sm"/>
          </a:ln>
        </p:spPr>
      </p:cxnSp>
      <p:cxnSp>
        <p:nvCxnSpPr>
          <p:cNvPr id="46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6172200" y="2390775"/>
            <a:ext cx="1590675" cy="8763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4E7AC7"/>
            </a:solidFill>
            <a:prstDash val="solid"/>
            <a:tailEnd type="triangle" w="sm" len="sm"/>
          </a:ln>
        </p:spPr>
      </p:cxnSp>
      <p:cxnSp>
        <p:nvCxnSpPr>
          <p:cNvPr id="47" name=""/>
          <p:cNvCxnSpPr>
            <a:stCxn xmlns:a="http://schemas.openxmlformats.org/drawingml/2006/main" id="7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172200" y="3267075"/>
            <a:ext cx="1590675" cy="5524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A9D8F"/>
            </a:solidFill>
            <a:prstDash val="solid"/>
            <a:tailEnd type="triangle" w="sm" len="sm"/>
          </a:ln>
        </p:spPr>
      </p:cxnSp>
      <p:cxnSp>
        <p:nvCxnSpPr>
          <p:cNvPr id="48" name=""/>
          <p:cNvCxnSpPr>
            <a:stCxn xmlns:a="http://schemas.openxmlformats.org/drawingml/2006/main" id="10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 flipH="1">
            <a:off x="6191250" y="2828925"/>
            <a:ext cx="3143250" cy="1933575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4E7AC7"/>
            </a:solidFill>
            <a:prstDash val="solid"/>
            <a:tail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13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 flipH="1">
            <a:off x="6191250" y="4257675"/>
            <a:ext cx="3143250" cy="5048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A9D8F"/>
            </a:solidFill>
            <a:prstDash val="soli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A35128-97D8-46A9-BCE8-F9592825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B59060-20E3-49F1-BEEA-6D5E1CD1B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825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OpenClaw  /  housing workflows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216E65-241F-40F8-B1C5-90CDCB5D7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825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993014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A3AF26-C161-4943-90D3-BCC960A4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26B5B"/>
                </a:solidFill>
                <a:latin typeface="Helvetica"/>
                <a:ea typeface="Helvetica"/>
                <a:cs typeface="Helvetica"/>
              </a:defRPr>
            </a:pPr>
            <a:r>
              <a:rPr sz="1050" b="1" i="0">
                <a:solidFill>
                  <a:srgbClr val="F26B5B"/>
                </a:solidFill>
                <a:latin typeface="Helvetica"/>
                <a:ea typeface="Helvetica"/>
                <a:cs typeface="Helvetica"/>
              </a:rPr>
              <a:t>EMAIL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25F322-B9D4-45D2-A6DF-96A4AE23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2550" b="1" i="0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Email is a two-step side effect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5FA8AA-F6C0-47A2-AF84-8947E8FC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OpenClaw can prepare a useful property email, but delivery stops until the person approves the exact draft.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2DF3D1-BC91-4F55-94DD-60E4DEED7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2428875" cy="1905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6EEFB"/>
          </a:solidFill>
          <a:ln xmlns:a="http://schemas.openxmlformats.org/drawingml/2006/main" w="9525">
            <a:solidFill>
              <a:srgbClr val="4E7AC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431F99-B5BE-414C-AF69-5F2578F3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2085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4E7AC7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4E7AC7"/>
                </a:solidFill>
                <a:latin typeface="Helvetica"/>
                <a:ea typeface="Helvetica"/>
                <a:cs typeface="Helvetica"/>
              </a:rPr>
              <a:t>01  DRAFT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4829E8-2311-4985-AD77-80A60F16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2085975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email_draft</a:t>
            </a:r>
          </a:p>
          <a:p xmlns:a="http://schemas.openxmlformats.org/drawingml/2006/main">
            <a:pPr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Validate recipient</a:t>
            </a:r>
          </a:p>
          <a:p xmlns:a="http://schemas.openxmlformats.org/drawingml/2006/main">
            <a:pPr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Classify original query</a:t>
            </a:r>
          </a:p>
          <a:p xmlns:a="http://schemas.openxmlformats.org/drawingml/2006/main">
            <a:pPr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Build content from session/data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20CB7F-784E-48C1-8E78-DE05CE0D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86000"/>
            <a:ext cx="2428875" cy="1905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0C8"/>
          </a:solidFill>
          <a:ln xmlns:a="http://schemas.openxmlformats.org/drawingml/2006/main" w="9525">
            <a:solidFill>
              <a:srgbClr val="E3A72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A33FCE-5893-4CF7-ABEF-3FAD1582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19350"/>
            <a:ext cx="2085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E3A72F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E3A72F"/>
                </a:solidFill>
                <a:latin typeface="Helvetica"/>
                <a:ea typeface="Helvetica"/>
                <a:cs typeface="Helvetica"/>
              </a:rPr>
              <a:t>02 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D1FBD3-CEA4-478F-A406-81683FB74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24150"/>
            <a:ext cx="2085975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Show recipient, workflow,</a:t>
            </a:r>
          </a:p>
          <a:p xmlns:a="http://schemas.openxmlformats.org/drawingml/2006/main">
            <a:pPr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subject, and body summary</a:t>
            </a:r>
          </a:p>
          <a:p xmlns:a="http://schemas.openxmlformats.org/drawingml/2006/main">
            <a:pPr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Status: pending_approval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F8B43F-A234-4A7E-B140-A370453E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86000"/>
            <a:ext cx="2428875" cy="1905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DE7E3"/>
          </a:solidFill>
          <a:ln xmlns:a="http://schemas.openxmlformats.org/drawingml/2006/main" w="9525">
            <a:solidFill>
              <a:srgbClr val="F26B5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486CCC-4C63-41D1-AD02-74A9DB63B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19350"/>
            <a:ext cx="2085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F26B5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26B5B"/>
                </a:solidFill>
                <a:latin typeface="Helvetica"/>
                <a:ea typeface="Helvetica"/>
                <a:cs typeface="Helvetica"/>
              </a:rPr>
              <a:t>03  APPROVE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830923-4C47-4733-9A06-41F911DC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24150"/>
            <a:ext cx="2085975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Require exact text:</a:t>
            </a:r>
          </a:p>
          <a:p xmlns:a="http://schemas.openxmlformats.org/drawingml/2006/main">
            <a:pPr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“I approve sending this email”</a:t>
            </a:r>
          </a:p>
          <a:p xmlns:a="http://schemas.openxmlformats.org/drawingml/2006/main">
            <a:pPr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Use the exact approval_id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E98A47-3CC6-48C8-889D-A9C6457B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286000"/>
            <a:ext cx="1962150" cy="1905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DDF3F0"/>
          </a:solidFill>
          <a:ln xmlns:a="http://schemas.openxmlformats.org/drawingml/2006/main" w="9525">
            <a:solidFill>
              <a:srgbClr val="2A9D8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72AF61-C743-4595-A470-5EE3FA37E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193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2A9D8F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2A9D8F"/>
                </a:solidFill>
                <a:latin typeface="Helvetica"/>
                <a:ea typeface="Helvetica"/>
                <a:cs typeface="Helvetica"/>
              </a:rPr>
              <a:t>04  SEND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C3F87D-964A-44C4-997F-3114D70D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24150"/>
            <a:ext cx="16192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sendApprovedEmail</a:t>
            </a:r>
          </a:p>
          <a:p xmlns:a="http://schemas.openxmlformats.org/drawingml/2006/main">
            <a:pPr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Deliver once</a:t>
            </a:r>
          </a:p>
          <a:p xmlns:a="http://schemas.openxmlformats.org/drawingml/2006/main">
            <a:pPr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Consume approval state</a:t>
            </a:r>
          </a:p>
        </p:txBody>
      </p:sp>
      <p:cxnSp>
        <p:nvCxnSpPr>
          <p:cNvPr id="40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14675" y="32385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085"/>
            </a:solidFill>
            <a:prstDash val="soli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067425" y="32385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085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9020175" y="32385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085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0166B1-F479-4D3E-8453-3D74895A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91075"/>
            <a:ext cx="108204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14263D"/>
          </a:solidFill>
          <a:ln xmlns:a="http://schemas.openxmlformats.org/drawingml/2006/main" w="9525">
            <a:solidFill>
              <a:srgbClr val="14263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B12419-B6BD-4986-BFE9-90BB36758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006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FDE7E3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DE7E3"/>
                </a:solidFill>
                <a:latin typeface="Helvetica"/>
                <a:ea typeface="Helvetica"/>
                <a:cs typeface="Helvetica"/>
              </a:rPr>
              <a:t>Guardrail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7853F9-A88A-474B-B4CA-B087644C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9339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575" b="0" i="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No scheduled preference, draft creation, or model decision can substitute for fresh human confirmation.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7CB21C-962A-41AA-959D-551FE493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4AE70B-CF32-420C-8ED7-B7F4F5CB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825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OpenClaw  /  housing workflows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F82A1D-0CD2-4B3C-BFED-E108D0D8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825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698507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F0E3454-84B8-4FFA-97B3-218DB32D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26B5B"/>
                </a:solidFill>
                <a:latin typeface="Helvetica"/>
                <a:ea typeface="Helvetica"/>
                <a:cs typeface="Helvetica"/>
              </a:defRPr>
            </a:pPr>
            <a:r>
              <a:rPr sz="1050" b="1" i="0">
                <a:solidFill>
                  <a:srgbClr val="F26B5B"/>
                </a:solidFill>
                <a:latin typeface="Helvetica"/>
                <a:ea typeface="Helvetica"/>
                <a:cs typeface="Helvetica"/>
              </a:rPr>
              <a:t>SHARED SESSION, SEPARATE BOUNDARIES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1818ED-D164-4F6D-9D14-F008F8CB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2550" b="1" i="0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Housing data can flow into email without collapsing the controls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CEFB78-5B71-489C-8C9A-EF11EA0A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The shared session makes the experience continuous. Each workflow still owns its own contract and side effects.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4D85C5-9EE4-4550-AD30-703CB981D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63D"/>
          </a:solidFill>
          <a:ln xmlns:a="http://schemas.openxmlformats.org/drawingml/2006/main" w="9525">
            <a:solidFill>
              <a:srgbClr val="1426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C5E4A1-5F9B-41FE-B951-955AD517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951DBD-5D89-4ABB-9AA8-090DA74F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95500"/>
            <a:ext cx="3524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C7"/>
          </a:solidFill>
          <a:ln xmlns:a="http://schemas.openxmlformats.org/drawingml/2006/main" w="9525">
            <a:solidFill>
              <a:srgbClr val="4E7A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F2334C-E139-4842-9157-23756C45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247900"/>
            <a:ext cx="3219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275" b="1" i="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Housing workflow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27EF1E-7A93-4E0F-A022-0743AF9F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5314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5B"/>
          </a:solidFill>
          <a:ln xmlns:a="http://schemas.openxmlformats.org/drawingml/2006/main" w="9525">
            <a:solidFill>
              <a:srgbClr val="F26B5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4A1BBB-14C5-4D6F-9266-AE7BA3B41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47900"/>
            <a:ext cx="501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275" b="1" i="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Email workflow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DBF705-7A3B-4192-A633-08E300F0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52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3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FEFA14-94DD-40A8-8E1B-F9A42546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275" b="1" i="0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Input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134263-1BE5-4A83-992C-753FE706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09850"/>
            <a:ext cx="3524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986903-CE3D-43DA-9CB4-8C988FC2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819400"/>
            <a:ext cx="321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Natural-language property request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984F6D-1B08-4CE0-9637-93EF84F6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09850"/>
            <a:ext cx="5314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828A0B-7291-453A-A34F-526EF0D9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19400"/>
            <a:ext cx="501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Original housing query + recipient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E967D1-AE6F-4E9E-852C-2997F428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52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3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D75311-694C-4ED2-A7D9-1C3D85BFB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045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275" b="1" i="0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State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2F3CEF-2A56-4A7D-92A1-04CB9F7C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90900"/>
            <a:ext cx="3524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208175-40D9-45E2-9DFD-A330D3B6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600450"/>
            <a:ext cx="321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criteria, listingPreviews, market summaries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73568E-19D7-4D0C-90E8-F951C6B0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90900"/>
            <a:ext cx="5314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7742E7-17D4-4241-BD7C-FC90021D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00450"/>
            <a:ext cx="501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approvalId + pending/approved status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EAB2AF-BC37-4378-A97E-87E867A24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52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3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867D1C-7282-45F8-A0BE-84466093D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275" b="1" i="0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Action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C75060-D9B0-462C-B082-85B95E08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171950"/>
            <a:ext cx="3524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11357A-94C6-4A0D-94C3-EF04F179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381500"/>
            <a:ext cx="321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Query listings or market data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37F319-3DE5-49E7-B927-048A72187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71950"/>
            <a:ext cx="5314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0618F7-CABC-49C8-BF87-70831DD6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81500"/>
            <a:ext cx="501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Create a draft, then send once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C19F8D-1239-4712-8C08-4AB67A69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52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3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C3331D-D6C6-4774-AD14-0235C564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6255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4263D"/>
                </a:solidFill>
                <a:latin typeface="Helvetica"/>
                <a:ea typeface="Helvetica"/>
                <a:cs typeface="Helvetica"/>
              </a:defRPr>
            </a:pPr>
            <a:r>
              <a:rPr sz="1275" b="1" i="0">
                <a:solidFill>
                  <a:srgbClr val="14263D"/>
                </a:solidFill>
                <a:latin typeface="Helvetica"/>
                <a:ea typeface="Helvetica"/>
                <a:cs typeface="Helvetica"/>
              </a:rPr>
              <a:t>Boundary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54302D-BE9C-46FB-B927-131DB152F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53000"/>
            <a:ext cx="3524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32ACFF-0D37-4D65-9E8B-2C751594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162550"/>
            <a:ext cx="321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Canonical sessionId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A39512-7F7D-4EB1-B77E-F78E9BDAC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53000"/>
            <a:ext cx="5314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8949AA-2A4B-471D-995D-40E0E3FB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162550"/>
            <a:ext cx="501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Exact confirmation phrase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9F30F70-5794-4E1A-BD76-8032B543C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98E8D9-D58C-4677-9666-709EBB7E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825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OpenClaw  /  housing workflows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6AF512B-A439-47D3-9BE9-8D3AEDEE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E7085"/>
                </a:solidFill>
                <a:latin typeface="Helvetica"/>
                <a:ea typeface="Helvetica"/>
                <a:cs typeface="Helvetica"/>
              </a:defRPr>
            </a:pPr>
            <a:r>
              <a:rPr sz="825" b="0" i="0">
                <a:solidFill>
                  <a:srgbClr val="5E7085"/>
                </a:solidFill>
                <a:latin typeface="Helvetica"/>
                <a:ea typeface="Helvetica"/>
                <a:cs typeface="Helvetica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172438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426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C9F682-A458-4017-B256-9FEF5137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DE7E3"/>
                </a:solidFill>
                <a:latin typeface="Helvetica"/>
                <a:ea typeface="Helvetica"/>
                <a:cs typeface="Helvetica"/>
              </a:defRPr>
            </a:pPr>
            <a:r>
              <a:rPr sz="1125" b="1" i="0">
                <a:solidFill>
                  <a:srgbClr val="FDE7E3"/>
                </a:solidFill>
                <a:latin typeface="Helvetica"/>
                <a:ea typeface="Helvetica"/>
                <a:cs typeface="Helvetica"/>
              </a:rPr>
              <a:t>WHAT THIS SHOWS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78DAE1-09CA-4D2E-8332-58B18E09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096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3450" b="1" i="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A useful OpenClaw workflow</a:t>
            </a:r>
          </a:p>
          <a:p xmlns:a="http://schemas.openxmlformats.org/drawingml/2006/main">
            <a:pPr>
              <a:defRPr sz="3450" b="1" i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3450" b="1" i="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keeps the action visible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C88E10-E2A7-4559-8DDF-0F7EE53B3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314325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4E7AC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84E6C4-1D07-4B2F-AFA2-129FC3EF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800" b="1" i="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Stateful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1414D9-559A-4207-93D8-3D8C7B45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F3F7FB"/>
                </a:solidFill>
                <a:latin typeface="Helvetica"/>
                <a:ea typeface="Helvetica"/>
                <a:cs typeface="Helvetica"/>
              </a:defRPr>
            </a:pPr>
            <a:r>
              <a:rPr sz="1275" b="0" i="0">
                <a:solidFill>
                  <a:srgbClr val="F3F7FB"/>
                </a:solidFill>
                <a:latin typeface="Helvetica"/>
                <a:ea typeface="Helvetica"/>
                <a:cs typeface="Helvetica"/>
              </a:rPr>
              <a:t>The same session carries search criteria and results across turns.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61A4E7-44F0-4743-8E3B-4997FC24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333750"/>
            <a:ext cx="314325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FF6772-39B1-4651-B256-C215D478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433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800" b="1" i="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Deterministic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655C9B-8B1F-4A22-83BF-F9BAB6338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98145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F3F7FB"/>
                </a:solidFill>
                <a:latin typeface="Helvetica"/>
                <a:ea typeface="Helvetica"/>
                <a:cs typeface="Helvetica"/>
              </a:defRPr>
            </a:pPr>
            <a:r>
              <a:rPr sz="1275" b="0" i="0">
                <a:solidFill>
                  <a:srgbClr val="F3F7FB"/>
                </a:solidFill>
                <a:latin typeface="Helvetica"/>
                <a:ea typeface="Helvetica"/>
                <a:cs typeface="Helvetica"/>
              </a:rPr>
              <a:t>Intent routing chooses the appropriate property path.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2D7B55-131C-4BA3-B055-B8AC1F639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33750"/>
            <a:ext cx="314325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26B5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09E80F-B8C7-400E-8BDD-8637492A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433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800" b="1" i="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Human-controlled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42CBA5-5DFA-4D72-8E14-7DE0D8E7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8145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F3F7FB"/>
                </a:solidFill>
                <a:latin typeface="Helvetica"/>
                <a:ea typeface="Helvetica"/>
                <a:cs typeface="Helvetica"/>
              </a:defRPr>
            </a:pPr>
            <a:r>
              <a:rPr sz="1275" b="0" i="0">
                <a:solidFill>
                  <a:srgbClr val="F3F7FB"/>
                </a:solidFill>
                <a:latin typeface="Helvetica"/>
                <a:ea typeface="Helvetica"/>
                <a:cs typeface="Helvetica"/>
              </a:rPr>
              <a:t>Email delivery requires review and exact approval.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02487F-85C3-4B57-AF7C-5C679FA2E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D8E2EF"/>
                </a:solidFill>
                <a:latin typeface="Helvetica"/>
                <a:ea typeface="Helvetica"/>
                <a:cs typeface="Helvetica"/>
              </a:defRPr>
            </a:pPr>
            <a:r>
              <a:rPr sz="1575" b="0" i="0">
                <a:solidFill>
                  <a:srgbClr val="D8E2EF"/>
                </a:solidFill>
                <a:latin typeface="Helvetica"/>
                <a:ea typeface="Helvetica"/>
                <a:cs typeface="Helvetica"/>
              </a:rPr>
              <a:t>OpenClaw’s product value is the seam between conversation and action.</a:t>
            </a:r>
          </a:p>
        </p:txBody>
      </p:sp>
    </p:spTree>
    <p:extLst>
      <p:ext uri="{BB962C8B-B14F-4D97-AF65-F5344CB8AC3E}">
        <p14:creationId xmlns:p14="http://schemas.microsoft.com/office/powerpoint/2010/main" val="5515196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2026-09-11T03:55:13.4060000Z</dcterms:created>
  <dcterms:modified xsi:type="dcterms:W3CDTF">2026-09-11T03:55:13.4060000Z</dcterms:modified>
</coreProperties>
</file>