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2441f3e924b59" /><Relationship Type="http://schemas.openxmlformats.org/officeDocument/2006/relationships/extended-properties" Target="/docProps/app.xml" Id="Rd38ad6f444c14a8f" /><Relationship Type="http://schemas.openxmlformats.org/officeDocument/2006/relationships/officeDocument" Target="/ppt/presentation.xml" Id="R6e9debe96591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a15b64c63422c"/>
  </p:sldMasterIdLst>
  <p:notesMasterIdLst>
    <p:notesMasterId xmlns:r="http://schemas.openxmlformats.org/officeDocument/2006/relationships" r:id="R8131e65793ca4524"/>
  </p:notesMasterIdLst>
  <p:sldIdLst>
    <p:sldId xmlns:r="http://schemas.openxmlformats.org/officeDocument/2006/relationships" id="256" r:id="R13dbba56988b47a1"/>
    <p:sldId xmlns:r="http://schemas.openxmlformats.org/officeDocument/2006/relationships" id="257" r:id="R7a5d4c1a837245d9"/>
    <p:sldId xmlns:r="http://schemas.openxmlformats.org/officeDocument/2006/relationships" id="258" r:id="R8a26647abdab4442"/>
    <p:sldId xmlns:r="http://schemas.openxmlformats.org/officeDocument/2006/relationships" id="259" r:id="Rcc5a562da1fe47f1"/>
    <p:sldId xmlns:r="http://schemas.openxmlformats.org/officeDocument/2006/relationships" id="260" r:id="R5fb8b340b78341ef"/>
    <p:sldId xmlns:r="http://schemas.openxmlformats.org/officeDocument/2006/relationships" id="261" r:id="R22d77d6c13ff4061"/>
    <p:sldId xmlns:r="http://schemas.openxmlformats.org/officeDocument/2006/relationships" id="262" r:id="Re6ece8d6f55f4612"/>
    <p:sldId xmlns:r="http://schemas.openxmlformats.org/officeDocument/2006/relationships" id="263" r:id="Rb59bfeb4559f4e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3c9a98d01c470e" /><Relationship Type="http://schemas.openxmlformats.org/officeDocument/2006/relationships/slideMaster" Target="/ppt/slideMasters/slideMaster1.xml" Id="R1e8a15b64c63422c" /><Relationship Type="http://schemas.openxmlformats.org/officeDocument/2006/relationships/notesMaster" Target="/ppt/notesMasters/notesMaster1.xml" Id="R8131e65793ca4524" /><Relationship Type="http://schemas.openxmlformats.org/officeDocument/2006/relationships/presProps" Target="/ppt/presProps.xml" Id="R20c9b6b9f30c436f" /><Relationship Type="http://schemas.openxmlformats.org/officeDocument/2006/relationships/tableStyles" Target="/ppt/tableStyles.xml" Id="R9406f21b1f284696" /><Relationship Type="http://schemas.openxmlformats.org/officeDocument/2006/relationships/slide" Target="/ppt/slides/slide1.xml" Id="R13dbba56988b47a1" /><Relationship Type="http://schemas.openxmlformats.org/officeDocument/2006/relationships/slide" Target="/ppt/slides/slide2.xml" Id="R7a5d4c1a837245d9" /><Relationship Type="http://schemas.openxmlformats.org/officeDocument/2006/relationships/slide" Target="/ppt/slides/slide3.xml" Id="R8a26647abdab4442" /><Relationship Type="http://schemas.openxmlformats.org/officeDocument/2006/relationships/slide" Target="/ppt/slides/slide4.xml" Id="Rcc5a562da1fe47f1" /><Relationship Type="http://schemas.openxmlformats.org/officeDocument/2006/relationships/slide" Target="/ppt/slides/slide5.xml" Id="R5fb8b340b78341ef" /><Relationship Type="http://schemas.openxmlformats.org/officeDocument/2006/relationships/slide" Target="/ppt/slides/slide6.xml" Id="R22d77d6c13ff4061" /><Relationship Type="http://schemas.openxmlformats.org/officeDocument/2006/relationships/slide" Target="/ppt/slides/slide7.xml" Id="Re6ece8d6f55f4612" /><Relationship Type="http://schemas.openxmlformats.org/officeDocument/2006/relationships/slide" Target="/ppt/slides/slide8.xml" Id="Rb59bfeb4559f4e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ea928365145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e81e28c2444088" /><Relationship Type="http://schemas.openxmlformats.org/officeDocument/2006/relationships/notesMaster" Target="/ppt/notesMasters/notesMaster1.xml" Id="Rbb22723c912e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f09d57420044b8" /><Relationship Type="http://schemas.openxmlformats.org/officeDocument/2006/relationships/notesMaster" Target="/ppt/notesMasters/notesMaster1.xml" Id="R3bef1479ac2849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7607da0ee84fcd" /><Relationship Type="http://schemas.openxmlformats.org/officeDocument/2006/relationships/notesMaster" Target="/ppt/notesMasters/notesMaster1.xml" Id="R2a2f3311726049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882570edc44021" /><Relationship Type="http://schemas.openxmlformats.org/officeDocument/2006/relationships/notesMaster" Target="/ppt/notesMasters/notesMaster1.xml" Id="R06084877fb9c4a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77fa0e1e04f63" /><Relationship Type="http://schemas.openxmlformats.org/officeDocument/2006/relationships/notesMaster" Target="/ppt/notesMasters/notesMaster1.xml" Id="Rb09c6fa6d59d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b278e15491482f" /><Relationship Type="http://schemas.openxmlformats.org/officeDocument/2006/relationships/notesMaster" Target="/ppt/notesMasters/notesMaster1.xml" Id="R94b9e256573d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7554e35f8f4f4b" /><Relationship Type="http://schemas.openxmlformats.org/officeDocument/2006/relationships/notesMaster" Target="/ppt/notesMasters/notesMaster1.xml" Id="R7a27575f0d6e4e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3f0542214344ca" /><Relationship Type="http://schemas.openxmlformats.org/officeDocument/2006/relationships/notesMaster" Target="/ppt/notesMasters/notesMaster1.xml" Id="R6b8b29790b5e4f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 (OpenClaw runs tasks in channels with rules; plugin-agnostic core); .agents/skills/property-search-orchestrator/SKILL.md (canonical sessionId); .agents/skills/property-email-workflows/SKILL.md (draft and approval boundary).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adds the technical text stack behind the housing and email workflows.</a:t>
            </a:r>
          </a:p>
          <a:p xmlns:a="http://schemas.openxmlformats.org/drawingml/2006/main">
            <a:r>
              <a:t>Sources: package.json; VISION.md; src/tools/message_handler.ts; src/tools/orchestrate.ts; src/agents/tools/property-search-tool.ts; src/agents/tools/email-workflow-tools.ts; src/tools/email.ts;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src/tools/orchestrate.ts; src/agents/tools/property-search-tool.ts.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src/tools/orchestrate.ts (search, market, recommend, knowledge, mixed); .agents/skills/property-search-orchestrator/SKILL.md (agent map and session memory).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.agents/skills/property-email-workflows/SKILL.md; src/tools/email.ts; src/agents/tools/email-workflow-tools.ts.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.agents/skills/property-email-workflows/SKILL.md; src/tools/session_memory.ts; src/tools/email.ts.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cc53c7ec4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c344bb4154132" /><Relationship Type="http://schemas.openxmlformats.org/officeDocument/2006/relationships/slideLayout" Target="/ppt/slideLayouts/slideLayout1.xml" Id="R58d89119831d49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d89119831d49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4ebc7f6974019" /><Relationship Type="http://schemas.openxmlformats.org/officeDocument/2006/relationships/notesSlide" Target="/ppt/notesSlides/notesSlide1.xml" Id="Rc888999cc88e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795b445de41c8" /><Relationship Type="http://schemas.openxmlformats.org/officeDocument/2006/relationships/notesSlide" Target="/ppt/notesSlides/notesSlide2.xml" Id="R63afc6d74b9942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20dfcac74068" /><Relationship Type="http://schemas.openxmlformats.org/officeDocument/2006/relationships/notesSlide" Target="/ppt/notesSlides/notesSlide3.xml" Id="R02c91199a74e4d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b8ea2ff6a43ea" /><Relationship Type="http://schemas.openxmlformats.org/officeDocument/2006/relationships/notesSlide" Target="/ppt/notesSlides/notesSlide4.xml" Id="Rc2bc8cb9bc1d41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f0e1730d44d5" /><Relationship Type="http://schemas.openxmlformats.org/officeDocument/2006/relationships/notesSlide" Target="/ppt/notesSlides/notesSlide5.xml" Id="Ra149d460be73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cf0c3bf624f10" /><Relationship Type="http://schemas.openxmlformats.org/officeDocument/2006/relationships/notesSlide" Target="/ppt/notesSlides/notesSlide6.xml" Id="R56ee60d908da45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78f5627294841" /><Relationship Type="http://schemas.openxmlformats.org/officeDocument/2006/relationships/notesSlide" Target="/ppt/notesSlides/notesSlide7.xml" Id="R76b523e73154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52baaef694bc5" /><Relationship Type="http://schemas.openxmlformats.org/officeDocument/2006/relationships/notesSlide" Target="/ppt/notesSlides/notesSlide8.xml" Id="R2088540ffdd2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7CF43-4C2C-4BA5-BE71-829C076D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-11430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C1849-4286-4B50-879B-C065F4D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AB06C-D550-4DB3-A212-46BE136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OPENCLAW / 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928B3-269A-417C-ADC2-2B0EEBC1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search +</a:t>
            </a:r>
          </a:p>
          <a:p xmlns:a="http://schemas.openxmlformats.org/drawingml/2006/main">
            <a:pPr>
              <a:buNone/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340C9-E1BD-45FA-96D7-5E01FD92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How OpenClaw turns a natural-language request into a stateful property workflow, then holds the line at the email approval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2EBF7-2C1E-49D7-94CB-36C91B01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rPr>
              <a:t>Repository summary  •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93522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E0744-1D40-44F0-906E-9602E71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THE OPENCLAW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36925-3F73-4745-860B-8809974E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OpenClaw is the execution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D8EA6-330B-42A5-89B2-CF37EAD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user speaks once. OpenClaw routes the request, carries session state, and keeps side effects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0EB37-8A17-4CCC-94D0-3AA26A6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2AA5E-D3AF-4BCE-9D4A-97B0990D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OPENCLAW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D611D-6654-4B24-8E67-2CF7B068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609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sessionId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conversation context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Channel-agnostic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457A7-278E-4515-899A-082D0E0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AE32A-5E9B-469D-9BAE-3E6CB140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PROPERTY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FB4F0-9EE7-4DFE-83BE-E774379E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collection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+ market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8B499-1067-4D95-BAA3-D932CEA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4F09-4A5A-4AEE-99E3-E929A86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86146-912D-4093-9EF4-BD814F0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Reviewable draft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approval phrase</a:t>
            </a:r>
          </a:p>
          <a:p xmlns:a="http://schemas.openxmlformats.org/drawingml/2006/main">
            <a:pPr>
              <a:buNone/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Single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2812C-C4D0-4F60-85F3-5CB1DE4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2630C-3A7F-4589-92DA-8BCEBDA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146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USER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CF633-9054-4275-B8B7-BD20F65A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 useful answer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with a visible action boundary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638550" y="2809875"/>
            <a:ext cx="8382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3000375"/>
            <a:ext cx="83820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B5B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34250" y="2809875"/>
            <a:ext cx="90487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334250" y="3495675"/>
            <a:ext cx="904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74C40-4344-48D1-A4D3-09934F3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57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 is the shared spine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0C9ED-D265-49EA-8930-81D0B218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81395-6DAF-4404-A107-F17511F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82BAA-0BAA-4168-B6F4-A97F7A2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8563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05A9B-F03A-4D1D-9F84-A7FE9AE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TECHNICAL TEXT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B22C6-AA59-41CB-AD87-E9FE5097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message path is layered and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63CA4-0C40-417A-BA6C-E6D96107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 text request moves through channel ingress, Gateway routing, typed tools, session memory, and durable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E96D9-8AA1-44D1-8079-2225FE0B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573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9F1C8-FAF1-4028-A821-8457884B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01  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4F75E-6795-4E18-831A-D3C79553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552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WhatsApp, Discord,</a:t>
            </a:r>
          </a:p>
          <a:p xmlns:a="http://schemas.openxmlformats.org/drawingml/2006/main">
            <a:pPr>
              <a:def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web chat, or another</a:t>
            </a:r>
          </a:p>
          <a:p xmlns:a="http://schemas.openxmlformats.org/drawingml/2006/main">
            <a:pPr>
              <a:def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channel plugin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A1C64-AC6C-4ABD-AB6C-164E1BC7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573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3A67B-6D4D-46A0-8149-ACC7AD18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050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02 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84B65-CB96-43B7-A518-4C920E3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552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Normalize the inbound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message and resolve the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canonical sessionId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8AAC4-4F67-4A35-8752-D830202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20955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4C934-9D0A-4FF3-9C1D-082A2D80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05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03  AGENT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54EBD-F189-44B6-B94B-00742CA0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09850"/>
            <a:ext cx="1790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TypeBox schemas expose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property_search,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email_draft, email_approve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519E2-AAB7-4EBE-842F-0817DE9C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90750"/>
            <a:ext cx="18573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850E8-912E-4E34-8D54-7E27981D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05050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04 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A08EF-B475-41C8-8C3A-41AE955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09850"/>
            <a:ext cx="1552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orchestrate.ts routes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search, market, mixed,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recommend,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D4465-6497-40C0-8D50-8F473CDB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90750"/>
            <a:ext cx="189547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5165C-0D21-4310-8F77-5099EFCF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05 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308F5-0713-4E19-9829-22870EF1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09850"/>
            <a:ext cx="1590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message_handler formats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reply; email.ts holds</a:t>
            </a:r>
          </a:p>
          <a:p xmlns:a="http://schemas.openxmlformats.org/drawingml/2006/main">
            <a:pPr>
              <a:def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approval boundary</a:t>
            </a:r>
          </a:p>
        </p:txBody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43175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14875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24700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96400" y="29718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8773D2-36D6-491F-BDEA-CC3F9BD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E80B4-1772-4398-96A2-4BCD3C9C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E7020-30D8-45FE-9ECE-6A933AE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00575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TypeScript ESM on Node.js</a:t>
            </a:r>
          </a:p>
          <a:p xmlns:a="http://schemas.openxmlformats.org/drawingml/2006/main">
            <a:pPr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SQLite/Kysely owns runtime state and caches</a:t>
            </a:r>
          </a:p>
          <a:p xmlns:a="http://schemas.openxmlformats.org/drawingml/2006/main">
            <a:pPr>
              <a:def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Nodemailer handles the final email transport after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6E62FB-EEB2-4766-8694-DC791A8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Source files: src/tools/message_handler.ts  •  src/tools/orchestrate.ts  •  src/agents/tools/property-search-tool.ts  •  src/agents/tools/email-workflow-tools.ts  •  src/tools/email.ts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C5089-D9D6-4D87-B0E4-713D935F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E345C-5F5A-4125-AA38-EE1D5610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5B48B6-5EBB-44D4-A5F7-FC0E90AD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449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B689D-E466-4252-8AC4-D7F677B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09860-D2C0-43A0-BAFC-87B92CAA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 property request becomes structured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D7395-6B56-454E-A5F0-1C79444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orchestrator owns the handoff between requirements, listings, market context, recommendations, and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9AB81-CF2F-4918-8A43-5F668D5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790700" cy="1952625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F96B7-A68A-4545-87DA-F440CC1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01  CLASSIFY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3BF75-0DBB-497D-A6FD-498726DF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4478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search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market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recommend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mixed</a:t>
            </a:r>
          </a:p>
          <a:p xmlns:a="http://schemas.openxmlformats.org/drawingml/2006/main">
            <a:pPr>
              <a:buNone/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5D0C1-DB27-4EA1-A08F-D69DE09E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92558-0339-42EF-B285-F041B33D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02  REMEMBER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3ADCE-6D51-424D-A64B-08146B1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Merge criteria into the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current sessionId. Ask only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for missing search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47A8-9483-490C-9D95-4D744D5A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599D-F331-4037-9F24-30C6B82E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03  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D25E6-AD60-47AD-9BB1-062113D6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from rets_property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stats from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california_sold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867A0-B213-4EA4-8533-1F4C95B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9908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2503B-FA31-48BB-A2B9-04CFC61D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7172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04  RESPOND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75DD2-AA56-4ECA-A043-86AB9AF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6525"/>
            <a:ext cx="26479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Save listing previews and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summaries. Format the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answer for the channel.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2197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629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24904-4BB2-4409-8937-C70C617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FC2C4-4096-4CFE-8AF9-C15C8AF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5D7E3-6B11-4BFF-AA7E-A3C9B22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871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live Gateway calls property_search with the unchanged user message and the canonical sessionId. The isolated CLI is reserved for smoke tests.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EBAB-B282-4D17-9494-8178601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393C0-8112-4190-86BE-9B8D457C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3C074-E116-4115-8A9B-73376C3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4964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FB0CC-9C04-446C-8B0B-8D9FECC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5A12F-FEF2-4F79-89F3-4EAF3638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same conversation can move across housing intents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E9DDC-552A-4266-A7FD-08E9053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Routing stays deterministic at the boundary, while session memory preserves continuity between turns.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C47F0-9500-4B19-8527-2AB770FF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3AFA7-357F-48A7-9FFF-70C4E9A6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USER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79256-22BF-41D5-9306-6C8848E6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“Find a 3-bed in Oakland</a:t>
            </a:r>
          </a:p>
          <a:p xmlns:a="http://schemas.openxmlformats.org/drawingml/2006/main">
            <a:pPr>
              <a:buNone/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and tell me the market trend”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29BAC-5E5C-4875-8B34-F92950DF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1809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E5D25-1220-4A05-840E-F1001843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B1377-D767-4D47-8201-D01FF5D5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59512-F85E-4C9C-A131-AFED06F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4A022-65F0-4543-9954-A18931D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8597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LISTINGS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940DB-1082-4205-9DD7-57AF9A3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907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Requirements → listing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1CA20-A446-419D-A4B3-6A4A372A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8137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CA68C-2A5A-4C5D-BE14-639104D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147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4ED35-9AEA-47D4-A0C7-90AF683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1952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City → market stats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9E656-38D8-48C7-9C8E-B47D0F9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953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CBDEB-9130-4FCD-94E2-0A22E1A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7488E-B1ED-434D-99A9-DAE2CB8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006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+ listingPreviews + market summaries</a:t>
            </a:r>
          </a:p>
        </p:txBody>
      </p: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52800" y="32670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172200" y="2390775"/>
            <a:ext cx="1590675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172200" y="3267075"/>
            <a:ext cx="1590675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2828925"/>
            <a:ext cx="3143250" cy="19335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4257675"/>
            <a:ext cx="3143250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35128-97D8-46A9-BCE8-F9592825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59060-20E3-49F1-BEEA-6D5E1CD1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16E65-241F-40F8-B1C5-90CDCB5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9301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3AF26-C161-4943-90D3-BCC960A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F322-B9D4-45D2-A6DF-96A4AE2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Email is a two-step 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FA8AA-F6C0-47A2-AF84-8947E8F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can prepare a useful property email, but delivery stops until the person approves the exact draft.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DF3D1-BC91-4F55-94DD-60E4DEED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31F99-B5BE-414C-AF69-5F2578F3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01 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829E8-2311-4985-AD77-80A60F16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email_draft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Validate recipient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Classify original query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Build content from session/data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0CB7F-784E-48C1-8E78-DE05CE0D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33FCE-5893-4CF7-ABEF-3FAD1582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02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1FBD3-CEA4-478F-A406-81683FB7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Show recipient, workflow,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subject, and body summary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Status: pending_approval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8B43F-A234-4A7E-B140-A370453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86CCC-4C63-41D1-AD02-74A9DB63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03  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30923-4C47-4733-9A06-41F911DC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 exact text: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“I approve sending this email”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Use the exact approval_id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98A47-3CC6-48C8-889D-A9C6457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19621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2AF61-C743-4595-A470-5EE3FA37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04 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3F87D-964A-44C4-997F-3114D70D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19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sendApprovedEmail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Deliver once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Consume approval state</a:t>
            </a:r>
          </a:p>
        </p:txBody>
      </p:sp>
      <p:cxnSp>
        <p:nvCxnSpPr>
          <p:cNvPr id="5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146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6742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201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166B1-F479-4D3E-8453-3D74895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12419-B6BD-4986-BFE9-90BB3675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Guardrail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853F9-A88A-474B-B4CA-B087644C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33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No scheduled preference, draft creation, or model decision can substitute for fresh human confirmation.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CB21C-962A-41AA-959D-551FE493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AE70B-CF32-420C-8ED7-B7F4F5C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82A1D-0CD2-4B3C-BFED-E108D0D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9850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E3454-84B8-4FFA-97B3-218DB32D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SHARED SESSION, SEPARATE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818ED-D164-4F6D-9D14-F008F8C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Housing data can flow into email without collapsing the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EFB78-5B71-489C-8C9A-EF11EA0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shared session makes the experience continuous. Each workflow still owns its own contract and side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D85C5-9EE4-4550-AD30-703CB981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5E4A1-5F9B-41FE-B951-955AD517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51DBD-5D89-4ABB-9AA8-090DA74F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C7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334C-E139-4842-9157-23756C45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7EF1E-7A93-4E0F-A022-0743AF9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31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A1BBB-14C5-4D6F-9266-AE7BA3B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BF705-7A3B-4192-A633-08E300F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EFA14-94DD-40A8-8E1B-F9A42546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34263-1BE5-4A83-992C-753FE70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86903-CE3D-43DA-9CB4-8C988FC2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Natural-language property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84F6D-1B08-4CE0-9637-93EF84F6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28A0B-7291-453A-A34F-526EF0D9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Original housing query + recipient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967D1-AE6F-4E9E-852C-2997F428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75311-694C-4ED2-A7D9-1C3D85BF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F3CEF-2A56-4A7D-92A1-04CB9F7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08175-40D9-45E2-9DFD-A330D3B6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criteria, listingPreviews, market summaries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3568E-19D7-4D0C-90E8-F951C6B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742E7-17D4-4241-BD7C-FC90021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approvalId + pending/approved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AB2AF-BC37-4378-A97E-87E867A2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67D1C-7282-45F8-A0BE-84466093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75060-D9B0-462C-B082-85B95E0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719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1357A-94C6-4A0D-94C3-EF04F17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815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Query listings or market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7F319-3DE5-49E7-B927-048A721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618F7-CABC-49C8-BF87-70831DD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Create a draft, then send once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19F8D-1239-4712-8C08-4AB67A69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3331D-D6C6-4774-AD14-0235C56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4302D-BE9C-46FB-B927-131DB152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2ACFF-0D37-4D65-9E8B-2C751594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625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Canonical sessionId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39512-7F7D-4EB1-B77E-F78E9BDA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949AA-2A4B-471D-995D-40E0E3FB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confirmation phrase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F30F70-5794-4E1A-BD76-8032B54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98E8D9-D58C-4677-9666-709EBB7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AF512B-A439-47D3-9BE9-8D3AEDE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7243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9F682-A458-4017-B256-9FEF5137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WHAT THIS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8DAE1-09CA-4D2E-8332-58B18E0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9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 useful OpenClaw workflow</a:t>
            </a:r>
          </a:p>
          <a:p xmlns:a="http://schemas.openxmlformats.org/drawingml/2006/main">
            <a:pPr>
              <a:buNone/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keeps the action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88E10-E2A7-4559-8DDF-0F7EE53B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E7A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4E6C4-1D07-4B2F-AFA2-129FC3E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Stateful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414D9-559A-4207-93D8-3D8C7B4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The same session carries search criteria and results across turns.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1A4E7-44F0-4743-8E3B-4997FC2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F6772-39B1-4651-B256-C215D478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Deterministic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55C9B-8B1F-4A22-83BF-F9BAB633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Intent routing chooses the appropriate property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D7B55-131C-4BA3-B055-B8AC1F6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9E80F-B8C7-400E-8BDD-8637492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Human-controlled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2CBA5-5DFA-4D72-8E14-7DE0D8E7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Email delivery requires review and exact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2487F-85C3-4B57-AF7C-5C679FA2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OpenClaw’s product value is the seam between conversation and action.</a:t>
            </a:r>
          </a:p>
        </p:txBody>
      </p:sp>
    </p:spTree>
    <p:extLst>
      <p:ext uri="{BB962C8B-B14F-4D97-AF65-F5344CB8AC3E}">
        <p14:creationId xmlns:p14="http://schemas.microsoft.com/office/powerpoint/2010/main" val="551519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2026-09-11T09:00:56.7640000Z</dcterms:created>
  <dcterms:modified xsi:type="dcterms:W3CDTF">2026-09-11T09:00:56.7640000Z</dcterms:modified>
</coreProperties>
</file>