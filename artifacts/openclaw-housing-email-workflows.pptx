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383e6372cd4769" /><Relationship Type="http://schemas.openxmlformats.org/officeDocument/2006/relationships/extended-properties" Target="/docProps/app.xml" Id="R813f8482b7684170" /><Relationship Type="http://schemas.openxmlformats.org/officeDocument/2006/relationships/officeDocument" Target="/ppt/presentation.xml" Id="R869e706d2c704c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5a4f21f1534d4e"/>
  </p:sldMasterIdLst>
  <p:notesMasterIdLst>
    <p:notesMasterId xmlns:r="http://schemas.openxmlformats.org/officeDocument/2006/relationships" r:id="R4b30680ef8ff4fa0"/>
  </p:notesMasterIdLst>
  <p:sldIdLst>
    <p:sldId xmlns:r="http://schemas.openxmlformats.org/officeDocument/2006/relationships" id="256" r:id="Ree56db039d1a4026"/>
    <p:sldId xmlns:r="http://schemas.openxmlformats.org/officeDocument/2006/relationships" id="257" r:id="R1b305ba92df14e11"/>
    <p:sldId xmlns:r="http://schemas.openxmlformats.org/officeDocument/2006/relationships" id="258" r:id="R25dca14ed9a34546"/>
    <p:sldId xmlns:r="http://schemas.openxmlformats.org/officeDocument/2006/relationships" id="259" r:id="Rf36958d2488e4814"/>
    <p:sldId xmlns:r="http://schemas.openxmlformats.org/officeDocument/2006/relationships" id="260" r:id="Rb7583189aed34bce"/>
    <p:sldId xmlns:r="http://schemas.openxmlformats.org/officeDocument/2006/relationships" id="261" r:id="Rba98868edcc34894"/>
    <p:sldId xmlns:r="http://schemas.openxmlformats.org/officeDocument/2006/relationships" id="262" r:id="Rac031ee7a99e45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0a2a647f346c9" /><Relationship Type="http://schemas.openxmlformats.org/officeDocument/2006/relationships/slideMaster" Target="/ppt/slideMasters/slideMaster1.xml" Id="Ree5a4f21f1534d4e" /><Relationship Type="http://schemas.openxmlformats.org/officeDocument/2006/relationships/notesMaster" Target="/ppt/notesMasters/notesMaster1.xml" Id="R4b30680ef8ff4fa0" /><Relationship Type="http://schemas.openxmlformats.org/officeDocument/2006/relationships/presProps" Target="/ppt/presProps.xml" Id="R995bdc0ddaf84032" /><Relationship Type="http://schemas.openxmlformats.org/officeDocument/2006/relationships/tableStyles" Target="/ppt/tableStyles.xml" Id="R43857b8da6634349" /><Relationship Type="http://schemas.openxmlformats.org/officeDocument/2006/relationships/slide" Target="/ppt/slides/slide1.xml" Id="Ree56db039d1a4026" /><Relationship Type="http://schemas.openxmlformats.org/officeDocument/2006/relationships/slide" Target="/ppt/slides/slide2.xml" Id="R1b305ba92df14e11" /><Relationship Type="http://schemas.openxmlformats.org/officeDocument/2006/relationships/slide" Target="/ppt/slides/slide3.xml" Id="R25dca14ed9a34546" /><Relationship Type="http://schemas.openxmlformats.org/officeDocument/2006/relationships/slide" Target="/ppt/slides/slide4.xml" Id="Rf36958d2488e4814" /><Relationship Type="http://schemas.openxmlformats.org/officeDocument/2006/relationships/slide" Target="/ppt/slides/slide5.xml" Id="Rb7583189aed34bce" /><Relationship Type="http://schemas.openxmlformats.org/officeDocument/2006/relationships/slide" Target="/ppt/slides/slide6.xml" Id="Rba98868edcc34894" /><Relationship Type="http://schemas.openxmlformats.org/officeDocument/2006/relationships/slide" Target="/ppt/slides/slide7.xml" Id="Rac031ee7a99e45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5e5f185da145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014c2e664a426a" /><Relationship Type="http://schemas.openxmlformats.org/officeDocument/2006/relationships/notesMaster" Target="/ppt/notesMasters/notesMaster1.xml" Id="R913827b33d6f43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c0ef7f0c3d4480" /><Relationship Type="http://schemas.openxmlformats.org/officeDocument/2006/relationships/notesMaster" Target="/ppt/notesMasters/notesMaster1.xml" Id="R12aed45ea11641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97af00ab164a4a" /><Relationship Type="http://schemas.openxmlformats.org/officeDocument/2006/relationships/notesMaster" Target="/ppt/notesMasters/notesMaster1.xml" Id="Rc5b92b0bf41f44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549e905dc144ea" /><Relationship Type="http://schemas.openxmlformats.org/officeDocument/2006/relationships/notesMaster" Target="/ppt/notesMasters/notesMaster1.xml" Id="R1eb6da1a894143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16890da8e34bb5" /><Relationship Type="http://schemas.openxmlformats.org/officeDocument/2006/relationships/notesMaster" Target="/ppt/notesMasters/notesMaster1.xml" Id="Raf6a2af7170548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6565bf75de49f5" /><Relationship Type="http://schemas.openxmlformats.org/officeDocument/2006/relationships/notesMaster" Target="/ppt/notesMasters/notesMaster1.xml" Id="Rff56779b556a40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c1f3ac6551436f" /><Relationship Type="http://schemas.openxmlformats.org/officeDocument/2006/relationships/notesMaster" Target="/ppt/notesMasters/notesMaster1.xml" Id="Rcb88a03380f64c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VISION.md; .agents/skills/property-search-orchestrator/SKILL.md; .agents/skills/property-email-workflows/SKILL.md.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VISION.md (OpenClaw runs tasks in channels with rules; plugin-agnostic core); .agents/skills/property-search-orchestrator/SKILL.md (canonical sessionId); .agents/skills/property-email-workflows/SKILL.md (draft and approval boundary).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.agents/skills/property-search-orchestrator/SKILL.md; src/tools/orchestrate.ts; src/agents/tools/property-search-tool.ts.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src/tools/orchestrate.ts (search, market, recommend, knowledge, mixed); .agents/skills/property-search-orchestrator/SKILL.md (agent map and session memory).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.agents/skills/property-email-workflows/SKILL.md; src/tools/email.ts; src/agents/tools/email-workflow-tools.ts.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.agents/skills/property-search-orchestrator/SKILL.md; .agents/skills/property-email-workflows/SKILL.md; src/tools/session_memory.ts; src/tools/email.ts.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VISION.md; .agents/skills/property-search-orchestrator/SKILL.md; .agents/skills/property-email-workflows/SKILL.md.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ee87c900c47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e1fb30ba7c477f" /><Relationship Type="http://schemas.openxmlformats.org/officeDocument/2006/relationships/slideLayout" Target="/ppt/slideLayouts/slideLayout1.xml" Id="R5383d5392d5540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83d5392d5540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04972332f4d0f" /><Relationship Type="http://schemas.openxmlformats.org/officeDocument/2006/relationships/notesSlide" Target="/ppt/notesSlides/notesSlide1.xml" Id="Rdf1da68de63446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6caf746064d1b" /><Relationship Type="http://schemas.openxmlformats.org/officeDocument/2006/relationships/notesSlide" Target="/ppt/notesSlides/notesSlide2.xml" Id="Rc19a47e618f640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451af33294971" /><Relationship Type="http://schemas.openxmlformats.org/officeDocument/2006/relationships/notesSlide" Target="/ppt/notesSlides/notesSlide3.xml" Id="Rd910a19d9ef84b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2531cf4c8440b" /><Relationship Type="http://schemas.openxmlformats.org/officeDocument/2006/relationships/notesSlide" Target="/ppt/notesSlides/notesSlide4.xml" Id="R8b074509ddea42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2d8d79c9c477e" /><Relationship Type="http://schemas.openxmlformats.org/officeDocument/2006/relationships/notesSlide" Target="/ppt/notesSlides/notesSlide5.xml" Id="Re66e4cba2ccc4e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b91802fc34ffd" /><Relationship Type="http://schemas.openxmlformats.org/officeDocument/2006/relationships/notesSlide" Target="/ppt/notesSlides/notesSlide6.xml" Id="R2c1f4bad19774b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8fc2913464983" /><Relationship Type="http://schemas.openxmlformats.org/officeDocument/2006/relationships/notesSlide" Target="/ppt/notesSlides/notesSlide7.xml" Id="R038e218f213f4b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3FCC2-F5CA-4B49-8B56-0BC5AD44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-114300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11E45-4100-454B-B582-82170DAF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10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992D0-E13B-469D-9BA4-853A196B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rPr>
              <a:t>OPENCLAW / PRODUCT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5003D-DFE2-4710-9AA8-6920D3FB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Housing search +</a:t>
            </a:r>
          </a:p>
          <a:p xmlns:a="http://schemas.openxmlformats.org/drawingml/2006/main">
            <a:pPr>
              <a:def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email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AE839-096D-43B4-AA9F-8DA4176C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7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How OpenClaw turns a natural-language request into a stateful property workflow, then holds the line at the email approval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78A03-2015-4F5C-9F77-8B935751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AB9CB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AAB9CB"/>
                </a:solidFill>
                <a:latin typeface="Helvetica"/>
                <a:ea typeface="Helvetica"/>
                <a:cs typeface="Helvetica"/>
              </a:rPr>
              <a:t>Repository summary  •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789227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35485-A47E-4541-9C78-A988F6FF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THE OPENCLAW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0BD60-FF83-48C8-B56F-5A51FD08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OpenClaw is the execution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27762-C852-4757-A35E-464E7D83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user speaks once. OpenClaw routes the request, carries session state, and keeps side effects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C6DDC-674A-4B69-B6C3-529D46D8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952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D55E7-767D-4FA0-9B8B-7816B801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OPENCLAW GATEWAY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C5D72-68BA-4EC3-A3A2-F49616DD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609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One sessionId</a:t>
            </a:r>
          </a:p>
          <a:p xmlns:a="http://schemas.openxmlformats.org/drawingml/2006/main">
            <a:pPr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One conversation context</a:t>
            </a:r>
          </a:p>
          <a:p xmlns:a="http://schemas.openxmlformats.org/drawingml/2006/main">
            <a:pPr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Channel-agnostic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A62D5-02DB-4783-828C-0A4858CA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857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3E021-F273-4214-AFC9-530EC1F9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PROPERTY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8C742-9C15-4525-9AAF-024A88D2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2514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Intent routing</a:t>
            </a:r>
          </a:p>
          <a:p xmlns:a="http://schemas.openxmlformats.org/drawingml/2006/main">
            <a:pPr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Criteria collection</a:t>
            </a:r>
          </a:p>
          <a:p xmlns:a="http://schemas.openxmlformats.org/drawingml/2006/main">
            <a:pPr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Listings + market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C14DE-AD6F-4740-93E3-6B7B8EE2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2857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E4729-467C-4808-998E-8399E5D1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EMAIL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C58D2-4B1D-4C21-89D1-FB62361F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2514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Reviewable draft</a:t>
            </a:r>
          </a:p>
          <a:p xmlns:a="http://schemas.openxmlformats.org/drawingml/2006/main">
            <a:pPr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Exact approval phrase</a:t>
            </a:r>
          </a:p>
          <a:p xmlns:a="http://schemas.openxmlformats.org/drawingml/2006/main">
            <a:pPr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Single 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D4B73-088B-48E0-9853-EBCF4B79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857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FCC05-019E-43A4-B863-844BA144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146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USER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72643-CD6B-437E-8083-9B07156E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19450"/>
            <a:ext cx="2514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 useful answer</a:t>
            </a:r>
          </a:p>
          <a:p xmlns:a="http://schemas.openxmlformats.org/drawingml/2006/main">
            <a:pPr>
              <a:def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with a visible action boundary</a:t>
            </a:r>
          </a:p>
        </p:txBody>
      </p:sp>
      <p:cxnSp>
        <p:nvCxnSpPr>
          <p:cNvPr id="3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638550" y="2809875"/>
            <a:ext cx="8382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7AC7"/>
            </a:solidFill>
            <a:prstDash val="solid"/>
            <a:head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38550" y="3000375"/>
            <a:ext cx="83820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B5B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34250" y="2809875"/>
            <a:ext cx="904875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head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7334250" y="3495675"/>
            <a:ext cx="904875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2A2915-965B-49B6-BA74-B9F1A0A0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57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Session memory is the shared spine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135C2-10E2-4F15-9E56-C6760887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DAFF9-F528-4A25-9385-12510CF0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29760-1376-4DA0-8140-60991D69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4927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501987-10CD-4411-AE46-5742DCBB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HOUSING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38A90-D866-4483-9985-18D54ACB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 property request becomes structured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B211F-A41D-4C69-93B7-D816F11C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orchestrator owns the handoff between requirements, listings, market context, recommendations, and knowledge.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6B1A9-2EDA-45D6-8ABA-1F79E6E4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790700" cy="1952625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6AEB9-E7D2-4728-A922-7D8D254D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01  CLASSIFY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4E508-066D-44A8-93C9-6A483283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14478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search</a:t>
            </a:r>
          </a:p>
          <a:p xmlns:a="http://schemas.openxmlformats.org/drawingml/2006/main">
            <a:pPr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market</a:t>
            </a:r>
          </a:p>
          <a:p xmlns:a="http://schemas.openxmlformats.org/drawingml/2006/main">
            <a:pPr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recommend</a:t>
            </a:r>
          </a:p>
          <a:p xmlns:a="http://schemas.openxmlformats.org/drawingml/2006/main">
            <a:pPr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mixed</a:t>
            </a:r>
          </a:p>
          <a:p xmlns:a="http://schemas.openxmlformats.org/drawingml/2006/main">
            <a:pPr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knowledge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4A192-3589-49D9-9AB8-64DD6A76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38375"/>
            <a:ext cx="21907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E1C9D-14D3-425E-86FC-82441BFE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717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02  REMEMBER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462C7-ED28-4EC8-863B-F5162D8A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76525"/>
            <a:ext cx="18478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Merge criteria into the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current sessionId. Ask only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for missing search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767C8-3F6F-42DA-A495-D67F8338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38375"/>
            <a:ext cx="21907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98445-0B99-45B8-A260-6AE9EF74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717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03  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07A02-88C3-4DAC-A26D-3068EC16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76525"/>
            <a:ext cx="18478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Listings from rets_property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Market stats from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california_sold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E4C55-CC73-4E1D-9DC6-B3009731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38375"/>
            <a:ext cx="29908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EAD5C-90A8-4BC6-9542-D276191B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7172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04  RESPOND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6BE5C-FD47-4283-AA22-CB7178EF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76525"/>
            <a:ext cx="26479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Save listing previews and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market summaries. Format the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answer for the channel.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21970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head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96290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669E3-91A5-4BDD-8164-8ADDA825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078E7-D947-4F5C-97C4-6DBDE53D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5BA29-FE5B-4486-B859-49125AAC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05375"/>
            <a:ext cx="871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The live Gateway calls property_search with the unchanged user message and the canonical sessionId. The isolated CLI is reserved for smoke tests.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D6387-4C78-4117-A039-A38AD9AE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3928E6-0280-4723-AC99-5D0EF661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807B5C-49FE-43D7-BED5-07AF9C2F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067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115429-C1C1-4D4B-A16B-CEA65E8F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INTENT ROUTING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98297-F4AD-4B5B-A139-B54CC6CE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The same conversation can move across housing intents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4865C-FDD7-445D-989B-E46E902B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Routing stays deterministic at the boundary, while session memory preserves continuity between turns.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2053E-2DBD-486A-BA63-9B480F05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BFFE1-1B0A-4663-915B-81FE4649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USER MESSAGE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6B76F-AEF3-4AEC-A1DB-1F98288B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“Find a 3-bed in Oakland</a:t>
            </a:r>
          </a:p>
          <a:p xmlns:a="http://schemas.openxmlformats.org/drawingml/2006/main">
            <a:pPr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and tell me the market trend”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D5339-B48F-4E98-8662-A698F69C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18097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0C8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D1B84-3369-43CD-A024-EBAF63E1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rPr>
              <a:t>CLASSIFY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6ABF2-2CE0-41A8-90FF-9F6F0BA7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210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mixed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CE82F-95B4-4C7D-A165-141A9124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52625"/>
            <a:ext cx="3143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0FB4B-F189-4D30-9143-B00EF982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8597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LISTINGS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60412-A48F-4A3B-8AEB-6862B589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9077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Requirements → listing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F45A2-EB2B-4182-8675-912A542B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81375"/>
            <a:ext cx="3143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7AF3F-4521-4316-889B-01729EDD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1472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MARKET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2269C-CD5B-4D27-BC78-DDD9A064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1952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City → market stats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86B7C-3038-4908-9E93-C3B87DAF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4953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F9F7CF-1F6A-4BA2-B8B8-7A99883F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958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SESSION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064C2-0A64-47D8-9C52-F57301AE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006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criteria + listingPreviews + market summaries</a:t>
            </a:r>
          </a:p>
        </p:txBody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52800" y="326707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head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172200" y="2390775"/>
            <a:ext cx="1590675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E7AC7"/>
            </a:solidFill>
            <a:prstDash val="solid"/>
            <a:head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172200" y="3267075"/>
            <a:ext cx="1590675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head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191250" y="2828925"/>
            <a:ext cx="3143250" cy="19335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4E7AC7"/>
            </a:solidFill>
            <a:prstDash val="solid"/>
            <a:head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191250" y="4257675"/>
            <a:ext cx="3143250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head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55641-BF85-40DD-9096-F3034CE7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BBD629-661A-46AF-8001-CA2E2217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0EC78F-177F-4998-A647-92006173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1221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1C535-4CC6-469C-8FAD-074FE6AE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EMAIL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E3880-D63E-4FE2-9CBF-07F860EF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Email is a two-step side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C9EDD-C733-45F6-9324-31DEAEE0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can prepare a useful property email, but delivery stops until the person approves the exact draft.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9658A-AB0E-43C1-9BEA-D6D48CD3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4288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A334C-CB4C-4485-A7AA-6399DEA3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01 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E15C8-53BA-4CB1-807D-1E25DB5A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0859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email_draft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Validate recipient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Classify original query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Build content from session/data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11EDA-3BBB-466F-9D9D-7B30AF1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24288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0C8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47BFF-B1F3-46DA-A8EC-4D00A640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193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rPr>
              <a:t>02 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6E40C-DD92-4735-8196-3AF02842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20859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Show recipient, workflow,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subject, and body summary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Status: pending_approval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15C01-8DD8-4728-93E9-D59FF5CC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86000"/>
            <a:ext cx="24288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EB0F3-94E7-4CCD-A545-8ED98951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03  APPROVE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4B4E8-7C11-4EC7-963A-44A409A7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20859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Require exact text: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“I approve sending this email”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Use the exact approval_id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53CF0-0996-4A4D-83E3-9AAE4734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86000"/>
            <a:ext cx="19621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76403-2F90-4989-8408-6834A857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19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04  SEND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A7E87-E5C2-4671-8DE1-AA91CE47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619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sendApprovedEmail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Deliver once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Consume approval state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14675" y="3238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67425" y="3238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head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020175" y="3238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C4CB9-9BB9-48B3-B96C-015B7A2C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8204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70314-C333-498D-9E7F-E3E6AD99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DE7E3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DE7E3"/>
                </a:solidFill>
                <a:latin typeface="Helvetica"/>
                <a:ea typeface="Helvetica"/>
                <a:cs typeface="Helvetica"/>
              </a:rPr>
              <a:t>Guardrail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3B8E6-32EF-46BF-B6F9-7852794E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339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No scheduled preference, draft creation, or model decision can substitute for fresh human confirmation.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6DE08-EF10-433B-A615-5DB728E6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826ED1-446F-48EA-8411-6872CCCE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BD7219-8BC1-4AA9-8B69-E30057AF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0933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9D0A82-337B-4A3E-A806-9C7C0AF7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SHARED SESSION, SEPARATE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35B76-0DF5-4A47-AE92-6AE781CC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Housing data can flow into email without collapsing the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B81A5-B0B6-40D1-AD07-5AD80C23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shared session makes the experience continuous. Each workflow still owns its own contract and side effects.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E1D00-709E-401C-84C6-B39F6796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3BBE8-4D16-4651-B633-F63F0ED0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4ECD5-223C-4FFE-80F1-65D6E1D7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C7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875A6-55BC-446F-9F90-499CE92E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479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Housing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7E362-3B84-4703-AC0E-A867BE0C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31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ECFDB-92E1-4889-8A5E-A7B9F089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Email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81DCA-685C-4701-9992-05CF6577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67F1B-A82C-4540-ABCF-46E005D5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59D3A-C51B-475F-A63A-2425FA34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985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EE394-53BD-4224-AC05-EB6A4EE3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194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Natural-language property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B050C-1FD5-439E-957E-EDC67415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7BB95-9163-477D-98CB-0620C089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Original housing query + recipient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70AAC-541A-494F-B2F1-D22F649F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91AE8-561D-4DE7-A611-6451A603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EC817-A8ED-46F4-8536-26F84EAE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101BC4-C73A-49C5-AECB-7FF04DA1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004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criteria, listingPreviews, market summaries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1370A-47CB-475A-B8FB-5DBABBEF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AA0B8-58F9-48A4-8083-B7B0E20B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approvalId + pending/approved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2AAE1-8F78-41E3-A7EC-F5DF9D3B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819720-B568-4512-BA1B-21F29504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D3759-720D-4855-AA45-D5B8188D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7195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E9B46-1DEF-4998-9700-40530AE9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815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Query listings or market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24156-5965-4596-AFC3-692356ED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97A502-C8EE-4B4E-8F6B-72A59253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Create a draft, then send once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D88FCE-5A39-4DFC-9DB5-31C18C4F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2A2D67-13F9-49D0-8B65-61C5D17E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A341C-0E4A-4156-A8BD-A62E09C7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C26DF0-AEE4-420F-AA69-44292D2B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625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Canonical sessionId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CAEE66-6FEC-4C65-8F7A-B4802891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AA9712-9480-4B16-96BF-092DA7A6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625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Exact confirmation phrase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0269DE-AA2C-4FBF-83F7-606B99F7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C90E17-E688-4885-8259-B15E2D87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676A2A-7310-4ACB-B758-B29F4731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8065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65B78-5A31-4E89-9D47-2C923BDE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rPr>
              <a:t>WHAT THIS SHOWS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094DB-A2C1-4A80-947C-DBE0870D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09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 useful OpenClaw workflow</a:t>
            </a:r>
          </a:p>
          <a:p xmlns:a="http://schemas.openxmlformats.org/drawingml/2006/main">
            <a:pPr>
              <a:def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keeps the action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B325B-D92D-4D9F-A1FE-B30BCF73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E7A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A8348-5A79-46D6-9F2D-33437571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Stateful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FEFD5-D867-490D-B751-9F6BC1D7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rPr>
              <a:t>The same session carries search criteria and results across turns.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5FC21-0C1D-419D-9235-33C06B1F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18F94-0E53-401A-838C-1744E475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Deterministic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59907-556A-4DC5-A508-2A3AE7E1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rPr>
              <a:t>Intent routing chooses the appropriate property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C9BFC-D684-434C-A2C5-D21914F0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23FE3-6672-4CD4-82AB-5C45A9EB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Human-controlled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B2128-5835-4C8C-AE88-B2B6EDC8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rPr>
              <a:t>Email delivery requires review and exact approval.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E48D4-4BC1-403F-A43E-D5929A4E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OpenClaw’s product value is the seam between conversation and action.</a:t>
            </a:r>
          </a:p>
        </p:txBody>
      </p:sp>
    </p:spTree>
    <p:extLst>
      <p:ext uri="{BB962C8B-B14F-4D97-AF65-F5344CB8AC3E}">
        <p14:creationId xmlns:p14="http://schemas.microsoft.com/office/powerpoint/2010/main" val="2011887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2026-09-11T03:54:23.2610000Z</dcterms:created>
  <dcterms:modified xsi:type="dcterms:W3CDTF">2026-09-11T03:54:23.2610000Z</dcterms:modified>
</coreProperties>
</file>